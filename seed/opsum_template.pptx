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60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2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64" r:id="rId5"/>
    <p:sldId id="342" r:id="rId6"/>
    <p:sldId id="338" r:id="rId7"/>
    <p:sldId id="316" r:id="rId8"/>
    <p:sldId id="323" r:id="rId9"/>
    <p:sldId id="322" r:id="rId10"/>
    <p:sldId id="340" r:id="rId11"/>
    <p:sldId id="325" r:id="rId12"/>
    <p:sldId id="341" r:id="rId13"/>
    <p:sldId id="288" r:id="rId14"/>
    <p:sldId id="302" r:id="rId16"/>
    <p:sldId id="328" r:id="rId19"/>
  </p:sldIdLst>
  <p:sldSz cx="9144000" cy="5143500" type="screen16x9"/>
  <p:notesSz cx="6724650" cy="9774238"/>
  <p:embeddedFontLst>
    <p:embeddedFont>
      <p:font typeface="Arial Black" panose="020B0A04020102020204" pitchFamily="34" charset="0"/>
      <p:bold r:id="rId22"/>
    </p:embeddedFont>
  </p:embeddedFontLst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ED7D31"/>
    <a:srgbClr val="DAE3F3"/>
    <a:srgbClr val="000000"/>
    <a:srgbClr val="F7A143"/>
    <a:srgbClr val="164DFE"/>
    <a:srgbClr val="08519C"/>
    <a:srgbClr val="FBFBFB"/>
    <a:srgbClr val="E57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 varScale="1">
        <p:scale>
          <a:sx n="140" d="100"/>
          <a:sy n="140" d="100"/>
        </p:scale>
        <p:origin x="81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4056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font" Target="fonts/font1.fntdata"/><Relationship Id="rId23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tags" Target="../tags/tag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14014" cy="490408"/>
          </a:xfrm>
          <a:prstGeom prst="rect">
            <a:avLst/>
          </a:prstGeom>
        </p:spPr>
        <p:txBody>
          <a:bodyPr vert="horz" lIns="95318" tIns="47660" rIns="95318" bIns="4766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09080" y="2"/>
            <a:ext cx="2914014" cy="490408"/>
          </a:xfrm>
          <a:prstGeom prst="rect">
            <a:avLst/>
          </a:prstGeom>
        </p:spPr>
        <p:txBody>
          <a:bodyPr vert="horz" lIns="95318" tIns="47660" rIns="95318" bIns="47660" rtlCol="0"/>
          <a:lstStyle>
            <a:lvl1pPr algn="r">
              <a:defRPr sz="1200"/>
            </a:lvl1pPr>
          </a:lstStyle>
          <a:p>
            <a:fld id="{44976A53-A43B-4614-9C2C-514478B4078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283833"/>
            <a:ext cx="2914014" cy="490407"/>
          </a:xfrm>
          <a:prstGeom prst="rect">
            <a:avLst/>
          </a:prstGeom>
        </p:spPr>
        <p:txBody>
          <a:bodyPr vert="horz" lIns="95318" tIns="47660" rIns="95318" bIns="4766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09080" y="9283833"/>
            <a:ext cx="2914014" cy="490407"/>
          </a:xfrm>
          <a:prstGeom prst="rect">
            <a:avLst/>
          </a:prstGeom>
        </p:spPr>
        <p:txBody>
          <a:bodyPr vert="horz" lIns="95318" tIns="47660" rIns="95318" bIns="47660" rtlCol="0" anchor="b"/>
          <a:lstStyle>
            <a:lvl1pPr algn="r">
              <a:defRPr sz="1200"/>
            </a:lvl1pPr>
          </a:lstStyle>
          <a:p>
            <a:fld id="{CD47D543-4C26-4C5A-A0CF-19A4CF70822A}" type="slidenum">
              <a:rPr lang="en-AU" smtClean="0"/>
              <a:t>‹#›</a:t>
            </a:fld>
            <a:endParaRPr lang="en-AU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9567281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14014" cy="490408"/>
          </a:xfrm>
          <a:prstGeom prst="rect">
            <a:avLst/>
          </a:prstGeom>
        </p:spPr>
        <p:txBody>
          <a:bodyPr vert="horz" lIns="95318" tIns="47660" rIns="95318" bIns="4766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09080" y="2"/>
            <a:ext cx="2914014" cy="490408"/>
          </a:xfrm>
          <a:prstGeom prst="rect">
            <a:avLst/>
          </a:prstGeom>
        </p:spPr>
        <p:txBody>
          <a:bodyPr vert="horz" lIns="95318" tIns="47660" rIns="95318" bIns="47660" rtlCol="0"/>
          <a:lstStyle>
            <a:lvl1pPr algn="r">
              <a:defRPr sz="1200"/>
            </a:lvl1pPr>
          </a:lstStyle>
          <a:p>
            <a:fld id="{7708AC98-6E7C-4E05-9FD7-F3423930DBFF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1800" y="1222375"/>
            <a:ext cx="5861050" cy="3297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318" tIns="47660" rIns="95318" bIns="4766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2465" y="4703853"/>
            <a:ext cx="5379720" cy="3848607"/>
          </a:xfrm>
          <a:prstGeom prst="rect">
            <a:avLst/>
          </a:prstGeom>
        </p:spPr>
        <p:txBody>
          <a:bodyPr vert="horz" lIns="95318" tIns="47660" rIns="95318" bIns="4766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283833"/>
            <a:ext cx="2914014" cy="490407"/>
          </a:xfrm>
          <a:prstGeom prst="rect">
            <a:avLst/>
          </a:prstGeom>
        </p:spPr>
        <p:txBody>
          <a:bodyPr vert="horz" lIns="95318" tIns="47660" rIns="95318" bIns="4766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09080" y="9283833"/>
            <a:ext cx="2914014" cy="490407"/>
          </a:xfrm>
          <a:prstGeom prst="rect">
            <a:avLst/>
          </a:prstGeom>
        </p:spPr>
        <p:txBody>
          <a:bodyPr vert="horz" lIns="95318" tIns="47660" rIns="95318" bIns="47660" rtlCol="0" anchor="b"/>
          <a:lstStyle>
            <a:lvl1pPr algn="r">
              <a:defRPr sz="1200"/>
            </a:lvl1pPr>
          </a:lstStyle>
          <a:p>
            <a:fld id="{0F144BF6-8FDA-43A1-9798-7D24E68182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06543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44BF6-8FDA-43A1-9798-7D24E681824F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314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5474">
              <a:defRPr/>
            </a:pPr>
            <a:fld id="{0F144BF6-8FDA-43A1-9798-7D24E681824F}" type="slidenum">
              <a:rPr lang="en-AU">
                <a:solidFill>
                  <a:prstClr val="black"/>
                </a:solidFill>
                <a:latin typeface="Calibri" panose="020F0502020204030204"/>
              </a:rPr>
              <a:pPr defTabSz="435474">
                <a:defRPr/>
              </a:pPr>
              <a:t>2</a:t>
            </a:fld>
            <a:endParaRPr lang="en-AU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24537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44BF6-8FDA-43A1-9798-7D24E681824F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5026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44BF6-8FDA-43A1-9798-7D24E681824F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5076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44BF6-8FDA-43A1-9798-7D24E681824F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8813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0847">
              <a:defRPr/>
            </a:pPr>
            <a:fld id="{0F144BF6-8FDA-43A1-9798-7D24E681824F}" type="slidenum">
              <a:rPr lang="en-AU">
                <a:solidFill>
                  <a:prstClr val="black"/>
                </a:solidFill>
                <a:latin typeface="Calibri" panose="020F0502020204030204"/>
              </a:rPr>
              <a:pPr defTabSz="450847">
                <a:defRPr/>
              </a:pPr>
              <a:t>6</a:t>
            </a:fld>
            <a:endParaRPr lang="en-AU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03557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C184-6B95-471C-F994-10F379387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04956-AE0D-992D-951F-D599D8C79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C3A31-474A-22E1-9BCD-8C41BD505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07AA6-4406-2C8C-D8DD-E39072E66D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44BF6-8FDA-43A1-9798-7D24E681824F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130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44BF6-8FDA-43A1-9798-7D24E681824F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1341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44BF6-8FDA-43A1-9798-7D24E681824F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2204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jpeg"/><Relationship Id="rId4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jpeg"/><Relationship Id="rId4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jpeg"/><Relationship Id="rId4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jpe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53EFC6-2AA9-B041-93D0-520EE45C1C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29" r="8020" b="88519"/>
          <a:stretch/>
        </p:blipFill>
        <p:spPr>
          <a:xfrm>
            <a:off x="1" y="-13639"/>
            <a:ext cx="9144000" cy="706051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8F1671FE-B804-A544-9774-EC7F626E7692}"/>
              </a:ext>
            </a:extLst>
          </p:cNvPr>
          <p:cNvSpPr txBox="1"/>
          <p:nvPr userDrawn="1"/>
        </p:nvSpPr>
        <p:spPr>
          <a:xfrm>
            <a:off x="670306" y="85219"/>
            <a:ext cx="3299962" cy="3355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1600" b="1" u="none" dirty="0">
                <a:solidFill>
                  <a:srgbClr val="71C5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Operational Summary</a:t>
            </a:r>
            <a:endParaRPr lang="en-AU" sz="1600" b="1" u="none" baseline="0" dirty="0">
              <a:solidFill>
                <a:srgbClr val="71C5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AU" sz="1800" b="1" u="sng" baseline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85AE1-CBC3-F141-A845-EB65D1DA8544}"/>
              </a:ext>
            </a:extLst>
          </p:cNvPr>
          <p:cNvSpPr/>
          <p:nvPr userDrawn="1"/>
        </p:nvSpPr>
        <p:spPr>
          <a:xfrm>
            <a:off x="5595674" y="93639"/>
            <a:ext cx="35801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AU" sz="1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Control Centre Activation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8D6983-ADC7-964E-803E-B72624D57E44}"/>
              </a:ext>
            </a:extLst>
          </p:cNvPr>
          <p:cNvCxnSpPr>
            <a:cxnSpLocks/>
          </p:cNvCxnSpPr>
          <p:nvPr userDrawn="1"/>
        </p:nvCxnSpPr>
        <p:spPr>
          <a:xfrm>
            <a:off x="5595676" y="132341"/>
            <a:ext cx="0" cy="43200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EBDDC596-75D0-954A-9292-8F7D9B8E6F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097" y="94097"/>
            <a:ext cx="427550" cy="5301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7940B4-EC02-4285-BF96-A1EB7E4F11D8}"/>
              </a:ext>
            </a:extLst>
          </p:cNvPr>
          <p:cNvSpPr/>
          <p:nvPr userDrawn="1"/>
        </p:nvSpPr>
        <p:spPr>
          <a:xfrm>
            <a:off x="5595674" y="269384"/>
            <a:ext cx="33712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700" b="1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1: </a:t>
            </a:r>
            <a:r>
              <a:rPr lang="en-AU" sz="700" b="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{{scc_class1}}</a:t>
            </a:r>
            <a:endParaRPr lang="en-AU" sz="700" b="0" kern="1200" baseline="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AU" sz="700" b="1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2: </a:t>
            </a:r>
            <a:r>
              <a:rPr lang="en-AU" sz="700" b="0" baseline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{{scc_class2}}</a:t>
            </a:r>
            <a:endParaRPr lang="en-AU" sz="700" b="0" baseline="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314">
            <a:extLst>
              <a:ext uri="{FF2B5EF4-FFF2-40B4-BE49-F238E27FC236}">
                <a16:creationId xmlns:a16="http://schemas.microsoft.com/office/drawing/2014/main" id="{EF167219-F06E-46B1-A454-E13CDDCF7B59}"/>
              </a:ext>
            </a:extLst>
          </p:cNvPr>
          <p:cNvSpPr txBox="1"/>
          <p:nvPr userDrawn="1"/>
        </p:nvSpPr>
        <p:spPr>
          <a:xfrm>
            <a:off x="717174" y="369090"/>
            <a:ext cx="4917139" cy="32332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="0" i="0" u="none" strike="noStrike" baseline="0" dirty="0">
                <a:solidFill>
                  <a:schemeClr val="bg1"/>
                </a:solidFill>
                <a:latin typeface="Arial"/>
                <a:cs typeface="Arial"/>
              </a:rPr>
              <a:t>Current as at {{as_at}}</a:t>
            </a:r>
            <a:endParaRPr lang="en-AU" sz="1000" b="0" baseline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A6326-6E06-4CB3-A0F2-AEAFE1D2247A}"/>
              </a:ext>
            </a:extLst>
          </p:cNvPr>
          <p:cNvSpPr txBox="1"/>
          <p:nvPr userDrawn="1"/>
        </p:nvSpPr>
        <p:spPr>
          <a:xfrm>
            <a:off x="3521396" y="112938"/>
            <a:ext cx="21129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Official: Sensitive</a:t>
            </a:r>
          </a:p>
          <a:p>
            <a:pPr algn="ctr"/>
            <a:r>
              <a:rPr lang="en-AU" sz="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internal use only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292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tion Button: Custom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B97CB2A-3EB6-5F48-A34E-286528A879B4}"/>
              </a:ext>
            </a:extLst>
          </p:cNvPr>
          <p:cNvSpPr/>
          <p:nvPr userDrawn="1"/>
        </p:nvSpPr>
        <p:spPr>
          <a:xfrm>
            <a:off x="-1" y="0"/>
            <a:ext cx="9144000" cy="5143500"/>
          </a:xfrm>
          <a:prstGeom prst="actionButtonBlank">
            <a:avLst/>
          </a:prstGeom>
          <a:solidFill>
            <a:srgbClr val="1E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2C04BCE-30C9-684C-A3EB-F6A91B2F99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4473" y="4451039"/>
            <a:ext cx="759919" cy="43163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5DF4B9C-63E5-174D-A128-F0AAB13A624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000" b="6172"/>
          <a:stretch/>
        </p:blipFill>
        <p:spPr>
          <a:xfrm rot="10800000">
            <a:off x="7669758" y="-3"/>
            <a:ext cx="1474241" cy="18101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3A6326-6E06-4CB3-A0F2-AEAFE1D2247A}"/>
              </a:ext>
            </a:extLst>
          </p:cNvPr>
          <p:cNvSpPr txBox="1"/>
          <p:nvPr userDrawn="1"/>
        </p:nvSpPr>
        <p:spPr>
          <a:xfrm>
            <a:off x="5799287" y="4328302"/>
            <a:ext cx="294926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Official: Sensitive</a:t>
            </a:r>
          </a:p>
          <a:p>
            <a:pPr algn="ctr"/>
            <a:r>
              <a:rPr lang="en-AU"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internal use only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03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0F17-0D27-3747-90C9-CB1C8E2459C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B5F29-0D04-AE47-B4FB-F203253D95AB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03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0F17-0D27-3747-90C9-CB1C8E2459C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B5F29-0D04-AE47-B4FB-F203253D9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8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0F17-0D27-3747-90C9-CB1C8E2459C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B5F29-0D04-AE47-B4FB-F203253D9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3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0F17-0D27-3747-90C9-CB1C8E2459C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B5F29-0D04-AE47-B4FB-F203253D9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45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0F17-0D27-3747-90C9-CB1C8E2459C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B5F29-0D04-AE47-B4FB-F203253D9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6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0F17-0D27-3747-90C9-CB1C8E2459C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B5F29-0D04-AE47-B4FB-F203253D9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3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0F17-0D27-3747-90C9-CB1C8E2459C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B5F29-0D04-AE47-B4FB-F203253D9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0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0F17-0D27-3747-90C9-CB1C8E2459C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B5F29-0D04-AE47-B4FB-F203253D9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52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0F17-0D27-3747-90C9-CB1C8E2459C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B5F29-0D04-AE47-B4FB-F203253D9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44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53EFC6-2AA9-B041-93D0-520EE45C1C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29" b="88519"/>
          <a:stretch/>
        </p:blipFill>
        <p:spPr>
          <a:xfrm>
            <a:off x="0" y="0"/>
            <a:ext cx="9144000" cy="720436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8F1671FE-B804-A544-9774-EC7F626E7692}"/>
              </a:ext>
            </a:extLst>
          </p:cNvPr>
          <p:cNvSpPr txBox="1"/>
          <p:nvPr userDrawn="1"/>
        </p:nvSpPr>
        <p:spPr>
          <a:xfrm>
            <a:off x="670306" y="85219"/>
            <a:ext cx="3299962" cy="3355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1600" b="1" u="none">
                <a:solidFill>
                  <a:srgbClr val="71C5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Operational Summary</a:t>
            </a:r>
            <a:endParaRPr lang="en-AU" sz="1600" b="1" u="none" baseline="0">
              <a:solidFill>
                <a:srgbClr val="71C5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AU" sz="1800" b="1" u="sng" baseline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85AE1-CBC3-F141-A845-EB65D1DA8544}"/>
              </a:ext>
            </a:extLst>
          </p:cNvPr>
          <p:cNvSpPr/>
          <p:nvPr userDrawn="1"/>
        </p:nvSpPr>
        <p:spPr>
          <a:xfrm>
            <a:off x="5740399" y="107549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AU" sz="9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Control Centre Activation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8D6983-ADC7-964E-803E-B72624D57E44}"/>
              </a:ext>
            </a:extLst>
          </p:cNvPr>
          <p:cNvCxnSpPr>
            <a:cxnSpLocks/>
          </p:cNvCxnSpPr>
          <p:nvPr userDrawn="1"/>
        </p:nvCxnSpPr>
        <p:spPr>
          <a:xfrm>
            <a:off x="5666508" y="132341"/>
            <a:ext cx="0" cy="43200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EBDDC596-75D0-954A-9292-8F7D9B8E6F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097" y="94097"/>
            <a:ext cx="427550" cy="5301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7940B4-EC02-4285-BF96-A1EB7E4F11D8}"/>
              </a:ext>
            </a:extLst>
          </p:cNvPr>
          <p:cNvSpPr/>
          <p:nvPr userDrawn="1"/>
        </p:nvSpPr>
        <p:spPr>
          <a:xfrm>
            <a:off x="5740399" y="107549"/>
            <a:ext cx="4572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latinLnBrk="0" hangingPunct="1">
              <a:lnSpc>
                <a:spcPct val="100000"/>
              </a:lnSpc>
            </a:pPr>
            <a:endParaRPr lang="en-AU" sz="900" b="1" baseline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AU" sz="9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1: </a:t>
            </a:r>
            <a:r>
              <a:rPr lang="en-AU" sz="9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Tier 3 (Red) Severe Weather</a:t>
            </a:r>
            <a:endParaRPr lang="en-AU" sz="900" b="0" kern="1200" baseline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9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2: </a:t>
            </a:r>
            <a:r>
              <a:rPr lang="en-AU" sz="900" b="0" baseline="0">
                <a:solidFill>
                  <a:srgbClr val="71C5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Tier 1 (Blue) COVID-19 Response</a:t>
            </a:r>
            <a:endParaRPr lang="en-AU" sz="900" b="0">
              <a:solidFill>
                <a:srgbClr val="71C5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314">
            <a:extLst>
              <a:ext uri="{FF2B5EF4-FFF2-40B4-BE49-F238E27FC236}">
                <a16:creationId xmlns:a16="http://schemas.microsoft.com/office/drawing/2014/main" id="{EF167219-F06E-46B1-A454-E13CDDCF7B59}"/>
              </a:ext>
            </a:extLst>
          </p:cNvPr>
          <p:cNvSpPr txBox="1"/>
          <p:nvPr userDrawn="1"/>
        </p:nvSpPr>
        <p:spPr>
          <a:xfrm>
            <a:off x="670306" y="361465"/>
            <a:ext cx="4282422" cy="32332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="0" i="0" u="none" strike="noStrike" baseline="0">
                <a:solidFill>
                  <a:schemeClr val="bg1"/>
                </a:solidFill>
                <a:latin typeface="Arial"/>
                <a:cs typeface="Arial"/>
              </a:rPr>
              <a:t>Current as at 0700hrs Thursday 10 November 2022</a:t>
            </a:r>
            <a:endParaRPr lang="en-AU" sz="1000" b="0" baseline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A6326-6E06-4CB3-A0F2-AEAFE1D2247A}"/>
              </a:ext>
            </a:extLst>
          </p:cNvPr>
          <p:cNvSpPr txBox="1"/>
          <p:nvPr userDrawn="1"/>
        </p:nvSpPr>
        <p:spPr>
          <a:xfrm>
            <a:off x="3515541" y="-13270"/>
            <a:ext cx="211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b="1">
                <a:solidFill>
                  <a:srgbClr val="FF0000"/>
                </a:solidFill>
              </a:rPr>
              <a:t>Official: Sensitive</a:t>
            </a:r>
          </a:p>
        </p:txBody>
      </p:sp>
    </p:spTree>
    <p:extLst>
      <p:ext uri="{BB962C8B-B14F-4D97-AF65-F5344CB8AC3E}">
        <p14:creationId xmlns:p14="http://schemas.microsoft.com/office/powerpoint/2010/main" val="1148557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tion Button: Custom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B97CB2A-3EB6-5F48-A34E-286528A879B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actionButtonBlank">
            <a:avLst/>
          </a:prstGeom>
          <a:solidFill>
            <a:srgbClr val="1E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2C04BCE-30C9-684C-A3EB-F6A91B2F99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473" y="4451039"/>
            <a:ext cx="759919" cy="43163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5DF4B9C-63E5-174D-A128-F0AAB13A624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000" b="6172"/>
          <a:stretch/>
        </p:blipFill>
        <p:spPr>
          <a:xfrm rot="10800000">
            <a:off x="7669758" y="-3"/>
            <a:ext cx="1474241" cy="18101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AACA53-3E0A-4DD2-9FDD-D2D5DA7A2ABD}"/>
              </a:ext>
            </a:extLst>
          </p:cNvPr>
          <p:cNvSpPr txBox="1"/>
          <p:nvPr userDrawn="1"/>
        </p:nvSpPr>
        <p:spPr>
          <a:xfrm>
            <a:off x="5116817" y="4414636"/>
            <a:ext cx="2778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>
                <a:solidFill>
                  <a:srgbClr val="FF0000"/>
                </a:solidFill>
              </a:rPr>
              <a:t>Official: Sensitive </a:t>
            </a:r>
          </a:p>
        </p:txBody>
      </p:sp>
    </p:spTree>
    <p:extLst>
      <p:ext uri="{BB962C8B-B14F-4D97-AF65-F5344CB8AC3E}">
        <p14:creationId xmlns:p14="http://schemas.microsoft.com/office/powerpoint/2010/main" val="251532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53EFC6-2AA9-B041-93D0-520EE45C1C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29" b="88519"/>
          <a:stretch/>
        </p:blipFill>
        <p:spPr>
          <a:xfrm>
            <a:off x="-1" y="-35649"/>
            <a:ext cx="9144000" cy="720436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8F1671FE-B804-A544-9774-EC7F626E7692}"/>
              </a:ext>
            </a:extLst>
          </p:cNvPr>
          <p:cNvSpPr txBox="1"/>
          <p:nvPr userDrawn="1"/>
        </p:nvSpPr>
        <p:spPr>
          <a:xfrm>
            <a:off x="670306" y="85219"/>
            <a:ext cx="3299962" cy="3355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1600" b="1" u="none">
                <a:solidFill>
                  <a:srgbClr val="71C5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Operational Summary</a:t>
            </a:r>
            <a:endParaRPr lang="en-AU" sz="1600" b="1" u="none" baseline="0">
              <a:solidFill>
                <a:srgbClr val="71C5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AU" sz="1800" b="1" u="sng" baseline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85AE1-CBC3-F141-A845-EB65D1DA8544}"/>
              </a:ext>
            </a:extLst>
          </p:cNvPr>
          <p:cNvSpPr/>
          <p:nvPr userDrawn="1"/>
        </p:nvSpPr>
        <p:spPr>
          <a:xfrm>
            <a:off x="5540215" y="85219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AU" sz="1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Control Centre Activation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8D6983-ADC7-964E-803E-B72624D57E44}"/>
              </a:ext>
            </a:extLst>
          </p:cNvPr>
          <p:cNvCxnSpPr>
            <a:cxnSpLocks/>
          </p:cNvCxnSpPr>
          <p:nvPr userDrawn="1"/>
        </p:nvCxnSpPr>
        <p:spPr>
          <a:xfrm>
            <a:off x="5595676" y="132341"/>
            <a:ext cx="0" cy="43200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EBDDC596-75D0-954A-9292-8F7D9B8E6F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097" y="94097"/>
            <a:ext cx="427550" cy="530161"/>
          </a:xfrm>
          <a:prstGeom prst="rect">
            <a:avLst/>
          </a:prstGeom>
        </p:spPr>
      </p:pic>
      <p:sp>
        <p:nvSpPr>
          <p:cNvPr id="13" name="TextBox 314">
            <a:extLst>
              <a:ext uri="{FF2B5EF4-FFF2-40B4-BE49-F238E27FC236}">
                <a16:creationId xmlns:a16="http://schemas.microsoft.com/office/drawing/2014/main" id="{EF167219-F06E-46B1-A454-E13CDDCF7B59}"/>
              </a:ext>
            </a:extLst>
          </p:cNvPr>
          <p:cNvSpPr txBox="1"/>
          <p:nvPr userDrawn="1"/>
        </p:nvSpPr>
        <p:spPr>
          <a:xfrm>
            <a:off x="678536" y="369090"/>
            <a:ext cx="4671040" cy="32332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="0" i="0" u="none" strike="noStrike" baseline="0">
                <a:solidFill>
                  <a:schemeClr val="bg1"/>
                </a:solidFill>
                <a:latin typeface="Arial"/>
                <a:cs typeface="Arial"/>
              </a:rPr>
              <a:t>Current as at 0830hrs on Friday 20 September 2024</a:t>
            </a:r>
            <a:endParaRPr lang="en-AU" sz="1000" b="0" baseline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A6326-6E06-4CB3-A0F2-AEAFE1D2247A}"/>
              </a:ext>
            </a:extLst>
          </p:cNvPr>
          <p:cNvSpPr txBox="1"/>
          <p:nvPr userDrawn="1"/>
        </p:nvSpPr>
        <p:spPr>
          <a:xfrm>
            <a:off x="3521396" y="112938"/>
            <a:ext cx="21129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Official: Sensitive</a:t>
            </a:r>
          </a:p>
          <a:p>
            <a:pPr algn="ctr"/>
            <a:r>
              <a:rPr lang="en-AU" sz="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F70249-6A27-6F18-38DB-08CA92835A6E}"/>
              </a:ext>
            </a:extLst>
          </p:cNvPr>
          <p:cNvSpPr/>
          <p:nvPr userDrawn="1"/>
        </p:nvSpPr>
        <p:spPr>
          <a:xfrm>
            <a:off x="5540215" y="288008"/>
            <a:ext cx="3667330" cy="332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78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1:</a:t>
            </a:r>
            <a:r>
              <a:rPr lang="en-AU" sz="75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700" b="1" baseline="0">
                <a:solidFill>
                  <a:srgbClr val="164DF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75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(White)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78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2: </a:t>
            </a:r>
            <a:r>
              <a:rPr lang="en-AU" sz="75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(White)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8471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tion Button: Custom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B97CB2A-3EB6-5F48-A34E-286528A879B4}"/>
              </a:ext>
            </a:extLst>
          </p:cNvPr>
          <p:cNvSpPr/>
          <p:nvPr userDrawn="1"/>
        </p:nvSpPr>
        <p:spPr>
          <a:xfrm>
            <a:off x="-1" y="0"/>
            <a:ext cx="9144000" cy="5143500"/>
          </a:xfrm>
          <a:prstGeom prst="actionButtonBlank">
            <a:avLst/>
          </a:prstGeom>
          <a:solidFill>
            <a:srgbClr val="1E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2C04BCE-30C9-684C-A3EB-F6A91B2F99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4473" y="4451039"/>
            <a:ext cx="759919" cy="43163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5DF4B9C-63E5-174D-A128-F0AAB13A624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000" b="6172"/>
          <a:stretch/>
        </p:blipFill>
        <p:spPr>
          <a:xfrm rot="10800000">
            <a:off x="7669758" y="-3"/>
            <a:ext cx="1474241" cy="18101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3A6326-6E06-4CB3-A0F2-AEAFE1D2247A}"/>
              </a:ext>
            </a:extLst>
          </p:cNvPr>
          <p:cNvSpPr txBox="1"/>
          <p:nvPr userDrawn="1"/>
        </p:nvSpPr>
        <p:spPr>
          <a:xfrm>
            <a:off x="5799287" y="4328302"/>
            <a:ext cx="294926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Official: Sensitive</a:t>
            </a:r>
          </a:p>
          <a:p>
            <a:pPr algn="ctr"/>
            <a:r>
              <a:rPr lang="en-AU"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internal use only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7374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53EFC6-2AA9-B041-93D0-520EE45C1C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29" b="88519"/>
          <a:stretch/>
        </p:blipFill>
        <p:spPr>
          <a:xfrm>
            <a:off x="0" y="0"/>
            <a:ext cx="9144000" cy="720436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8F1671FE-B804-A544-9774-EC7F626E7692}"/>
              </a:ext>
            </a:extLst>
          </p:cNvPr>
          <p:cNvSpPr txBox="1"/>
          <p:nvPr userDrawn="1"/>
        </p:nvSpPr>
        <p:spPr>
          <a:xfrm>
            <a:off x="670306" y="85219"/>
            <a:ext cx="3299962" cy="3355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1600" b="1" u="none">
                <a:solidFill>
                  <a:srgbClr val="71C5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Operational Summary</a:t>
            </a:r>
            <a:endParaRPr lang="en-AU" sz="1600" b="1" u="none" baseline="0">
              <a:solidFill>
                <a:srgbClr val="71C5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AU" sz="1800" b="1" u="sng" baseline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85AE1-CBC3-F141-A845-EB65D1DA8544}"/>
              </a:ext>
            </a:extLst>
          </p:cNvPr>
          <p:cNvSpPr/>
          <p:nvPr userDrawn="1"/>
        </p:nvSpPr>
        <p:spPr>
          <a:xfrm>
            <a:off x="5740399" y="107549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AU" sz="9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Control Centre Activation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8D6983-ADC7-964E-803E-B72624D57E44}"/>
              </a:ext>
            </a:extLst>
          </p:cNvPr>
          <p:cNvCxnSpPr>
            <a:cxnSpLocks/>
          </p:cNvCxnSpPr>
          <p:nvPr userDrawn="1"/>
        </p:nvCxnSpPr>
        <p:spPr>
          <a:xfrm>
            <a:off x="5666508" y="132341"/>
            <a:ext cx="0" cy="43200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EBDDC596-75D0-954A-9292-8F7D9B8E6F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097" y="94097"/>
            <a:ext cx="427550" cy="5301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7940B4-EC02-4285-BF96-A1EB7E4F11D8}"/>
              </a:ext>
            </a:extLst>
          </p:cNvPr>
          <p:cNvSpPr/>
          <p:nvPr userDrawn="1"/>
        </p:nvSpPr>
        <p:spPr>
          <a:xfrm>
            <a:off x="5740399" y="107549"/>
            <a:ext cx="4572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latinLnBrk="0" hangingPunct="1">
              <a:lnSpc>
                <a:spcPct val="100000"/>
              </a:lnSpc>
            </a:pPr>
            <a:endParaRPr lang="en-AU" sz="900" b="1" baseline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AU" sz="9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1: </a:t>
            </a:r>
            <a:r>
              <a:rPr lang="en-AU" sz="9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Tier 3 (Red) Severe Weather</a:t>
            </a:r>
            <a:endParaRPr lang="en-AU" sz="900" b="0" kern="1200" baseline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9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2: </a:t>
            </a:r>
            <a:r>
              <a:rPr lang="en-AU" sz="900" b="0" baseline="0">
                <a:solidFill>
                  <a:srgbClr val="71C5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Tier 1 (Blue) COVID-19 Response</a:t>
            </a:r>
            <a:endParaRPr lang="en-AU" sz="900" b="0">
              <a:solidFill>
                <a:srgbClr val="71C5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314">
            <a:extLst>
              <a:ext uri="{FF2B5EF4-FFF2-40B4-BE49-F238E27FC236}">
                <a16:creationId xmlns:a16="http://schemas.microsoft.com/office/drawing/2014/main" id="{EF167219-F06E-46B1-A454-E13CDDCF7B59}"/>
              </a:ext>
            </a:extLst>
          </p:cNvPr>
          <p:cNvSpPr txBox="1"/>
          <p:nvPr userDrawn="1"/>
        </p:nvSpPr>
        <p:spPr>
          <a:xfrm>
            <a:off x="670306" y="361465"/>
            <a:ext cx="4282422" cy="32332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="0" i="0" u="none" strike="noStrike" baseline="0">
                <a:solidFill>
                  <a:schemeClr val="bg1"/>
                </a:solidFill>
                <a:latin typeface="Arial"/>
                <a:cs typeface="Arial"/>
              </a:rPr>
              <a:t>Current as at 0700hrs Thursday 10 November 2022</a:t>
            </a:r>
            <a:endParaRPr lang="en-AU" sz="1000" b="0" baseline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A6326-6E06-4CB3-A0F2-AEAFE1D2247A}"/>
              </a:ext>
            </a:extLst>
          </p:cNvPr>
          <p:cNvSpPr txBox="1"/>
          <p:nvPr userDrawn="1"/>
        </p:nvSpPr>
        <p:spPr>
          <a:xfrm>
            <a:off x="3515541" y="-13270"/>
            <a:ext cx="211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b="1">
                <a:solidFill>
                  <a:srgbClr val="FF0000"/>
                </a:solidFill>
              </a:rPr>
              <a:t>Official: Sensitive</a:t>
            </a:r>
          </a:p>
        </p:txBody>
      </p:sp>
    </p:spTree>
    <p:extLst>
      <p:ext uri="{BB962C8B-B14F-4D97-AF65-F5344CB8AC3E}">
        <p14:creationId xmlns:p14="http://schemas.microsoft.com/office/powerpoint/2010/main" val="1726927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tion Button: Custom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B97CB2A-3EB6-5F48-A34E-286528A879B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actionButtonBlank">
            <a:avLst/>
          </a:prstGeom>
          <a:solidFill>
            <a:srgbClr val="1E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2C04BCE-30C9-684C-A3EB-F6A91B2F99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473" y="4451039"/>
            <a:ext cx="759919" cy="43163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5DF4B9C-63E5-174D-A128-F0AAB13A624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000" b="6172"/>
          <a:stretch/>
        </p:blipFill>
        <p:spPr>
          <a:xfrm rot="10800000">
            <a:off x="7669758" y="-3"/>
            <a:ext cx="1474241" cy="18101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AACA53-3E0A-4DD2-9FDD-D2D5DA7A2ABD}"/>
              </a:ext>
            </a:extLst>
          </p:cNvPr>
          <p:cNvSpPr txBox="1"/>
          <p:nvPr userDrawn="1"/>
        </p:nvSpPr>
        <p:spPr>
          <a:xfrm>
            <a:off x="5116817" y="4414636"/>
            <a:ext cx="2778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>
                <a:solidFill>
                  <a:srgbClr val="FF0000"/>
                </a:solidFill>
              </a:rPr>
              <a:t>Official: Sensitive </a:t>
            </a:r>
          </a:p>
        </p:txBody>
      </p:sp>
    </p:spTree>
    <p:extLst>
      <p:ext uri="{BB962C8B-B14F-4D97-AF65-F5344CB8AC3E}">
        <p14:creationId xmlns:p14="http://schemas.microsoft.com/office/powerpoint/2010/main" val="1888723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53EFC6-2AA9-B041-93D0-520EE45C1C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29" b="88519"/>
          <a:stretch/>
        </p:blipFill>
        <p:spPr>
          <a:xfrm>
            <a:off x="0" y="0"/>
            <a:ext cx="9144000" cy="729308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8F1671FE-B804-A544-9774-EC7F626E7692}"/>
              </a:ext>
            </a:extLst>
          </p:cNvPr>
          <p:cNvSpPr txBox="1"/>
          <p:nvPr userDrawn="1"/>
        </p:nvSpPr>
        <p:spPr>
          <a:xfrm>
            <a:off x="670306" y="85219"/>
            <a:ext cx="3299962" cy="3355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1600" b="1" u="none">
                <a:solidFill>
                  <a:srgbClr val="71C5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Operational Summary</a:t>
            </a:r>
            <a:endParaRPr lang="en-AU" sz="1600" b="1" u="none" baseline="0">
              <a:solidFill>
                <a:srgbClr val="71C5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AU" sz="1800" b="1" u="sng" baseline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8D6983-ADC7-964E-803E-B72624D57E44}"/>
              </a:ext>
            </a:extLst>
          </p:cNvPr>
          <p:cNvCxnSpPr>
            <a:cxnSpLocks/>
          </p:cNvCxnSpPr>
          <p:nvPr userDrawn="1"/>
        </p:nvCxnSpPr>
        <p:spPr>
          <a:xfrm>
            <a:off x="5595676" y="132341"/>
            <a:ext cx="0" cy="43200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EBDDC596-75D0-954A-9292-8F7D9B8E6F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097" y="94097"/>
            <a:ext cx="427550" cy="530161"/>
          </a:xfrm>
          <a:prstGeom prst="rect">
            <a:avLst/>
          </a:prstGeom>
        </p:spPr>
      </p:pic>
      <p:sp>
        <p:nvSpPr>
          <p:cNvPr id="13" name="TextBox 314">
            <a:extLst>
              <a:ext uri="{FF2B5EF4-FFF2-40B4-BE49-F238E27FC236}">
                <a16:creationId xmlns:a16="http://schemas.microsoft.com/office/drawing/2014/main" id="{EF167219-F06E-46B1-A454-E13CDDCF7B59}"/>
              </a:ext>
            </a:extLst>
          </p:cNvPr>
          <p:cNvSpPr txBox="1"/>
          <p:nvPr userDrawn="1"/>
        </p:nvSpPr>
        <p:spPr>
          <a:xfrm>
            <a:off x="678536" y="369090"/>
            <a:ext cx="4671040" cy="32332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="0" i="0" u="none" strike="noStrike" baseline="0">
                <a:solidFill>
                  <a:schemeClr val="bg1"/>
                </a:solidFill>
                <a:latin typeface="Arial"/>
                <a:cs typeface="Arial"/>
              </a:rPr>
              <a:t>Current as at 0830hrs on Friday 20 September 2024</a:t>
            </a:r>
            <a:endParaRPr lang="en-AU" sz="1000" b="0" baseline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A6326-6E06-4CB3-A0F2-AEAFE1D2247A}"/>
              </a:ext>
            </a:extLst>
          </p:cNvPr>
          <p:cNvSpPr txBox="1"/>
          <p:nvPr userDrawn="1"/>
        </p:nvSpPr>
        <p:spPr>
          <a:xfrm>
            <a:off x="3521396" y="112938"/>
            <a:ext cx="21129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Official: Sensitive</a:t>
            </a:r>
          </a:p>
          <a:p>
            <a:pPr algn="ctr"/>
            <a:r>
              <a:rPr lang="en-AU" sz="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ADA71E-BB7A-29D5-D1C6-FD45F363ECD0}"/>
              </a:ext>
            </a:extLst>
          </p:cNvPr>
          <p:cNvSpPr/>
          <p:nvPr userDrawn="1"/>
        </p:nvSpPr>
        <p:spPr>
          <a:xfrm>
            <a:off x="5550606" y="96855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AU" sz="1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Control Centre Activation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9F9C3-DBAE-F3C5-8CFB-74BC37177FAB}"/>
              </a:ext>
            </a:extLst>
          </p:cNvPr>
          <p:cNvSpPr/>
          <p:nvPr userDrawn="1"/>
        </p:nvSpPr>
        <p:spPr>
          <a:xfrm>
            <a:off x="5550606" y="314237"/>
            <a:ext cx="3601623" cy="324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76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1:</a:t>
            </a:r>
            <a:r>
              <a:rPr lang="en-AU" sz="760" b="1" baseline="0">
                <a:solidFill>
                  <a:srgbClr val="164DF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75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(White)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75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2: </a:t>
            </a:r>
            <a:r>
              <a:rPr lang="en-AU" sz="75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(White)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079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tion Button: Custom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B97CB2A-3EB6-5F48-A34E-286528A879B4}"/>
              </a:ext>
            </a:extLst>
          </p:cNvPr>
          <p:cNvSpPr/>
          <p:nvPr userDrawn="1"/>
        </p:nvSpPr>
        <p:spPr>
          <a:xfrm>
            <a:off x="-1" y="0"/>
            <a:ext cx="9144000" cy="5143500"/>
          </a:xfrm>
          <a:prstGeom prst="actionButtonBlank">
            <a:avLst/>
          </a:prstGeom>
          <a:solidFill>
            <a:srgbClr val="1E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2C04BCE-30C9-684C-A3EB-F6A91B2F99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4473" y="4451039"/>
            <a:ext cx="759919" cy="43163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5DF4B9C-63E5-174D-A128-F0AAB13A624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000" b="6172"/>
          <a:stretch/>
        </p:blipFill>
        <p:spPr>
          <a:xfrm rot="10800000">
            <a:off x="7669758" y="-3"/>
            <a:ext cx="1474241" cy="18101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3A6326-6E06-4CB3-A0F2-AEAFE1D2247A}"/>
              </a:ext>
            </a:extLst>
          </p:cNvPr>
          <p:cNvSpPr txBox="1"/>
          <p:nvPr userDrawn="1"/>
        </p:nvSpPr>
        <p:spPr>
          <a:xfrm>
            <a:off x="5799287" y="4328302"/>
            <a:ext cx="294926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Official: Sensitive</a:t>
            </a:r>
          </a:p>
          <a:p>
            <a:pPr algn="ctr"/>
            <a:r>
              <a:rPr lang="en-AU"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internal use only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5150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53EFC6-2AA9-B041-93D0-520EE45C1C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29" b="88519"/>
          <a:stretch/>
        </p:blipFill>
        <p:spPr>
          <a:xfrm>
            <a:off x="0" y="0"/>
            <a:ext cx="9144000" cy="720436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8F1671FE-B804-A544-9774-EC7F626E7692}"/>
              </a:ext>
            </a:extLst>
          </p:cNvPr>
          <p:cNvSpPr txBox="1"/>
          <p:nvPr userDrawn="1"/>
        </p:nvSpPr>
        <p:spPr>
          <a:xfrm>
            <a:off x="670306" y="85219"/>
            <a:ext cx="3299962" cy="3355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1600" b="1" u="none">
                <a:solidFill>
                  <a:srgbClr val="71C5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Operational Summary</a:t>
            </a:r>
            <a:endParaRPr lang="en-AU" sz="1600" b="1" u="none" baseline="0">
              <a:solidFill>
                <a:srgbClr val="71C5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AU" sz="1800" b="1" u="sng" baseline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85AE1-CBC3-F141-A845-EB65D1DA8544}"/>
              </a:ext>
            </a:extLst>
          </p:cNvPr>
          <p:cNvSpPr/>
          <p:nvPr userDrawn="1"/>
        </p:nvSpPr>
        <p:spPr>
          <a:xfrm>
            <a:off x="5740399" y="107549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AU" sz="9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Control Centre Activation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8D6983-ADC7-964E-803E-B72624D57E44}"/>
              </a:ext>
            </a:extLst>
          </p:cNvPr>
          <p:cNvCxnSpPr>
            <a:cxnSpLocks/>
          </p:cNvCxnSpPr>
          <p:nvPr userDrawn="1"/>
        </p:nvCxnSpPr>
        <p:spPr>
          <a:xfrm>
            <a:off x="5666508" y="132341"/>
            <a:ext cx="0" cy="43200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EBDDC596-75D0-954A-9292-8F7D9B8E6F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097" y="94097"/>
            <a:ext cx="427550" cy="5301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7940B4-EC02-4285-BF96-A1EB7E4F11D8}"/>
              </a:ext>
            </a:extLst>
          </p:cNvPr>
          <p:cNvSpPr/>
          <p:nvPr userDrawn="1"/>
        </p:nvSpPr>
        <p:spPr>
          <a:xfrm>
            <a:off x="5740399" y="107549"/>
            <a:ext cx="4572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latinLnBrk="0" hangingPunct="1">
              <a:lnSpc>
                <a:spcPct val="100000"/>
              </a:lnSpc>
            </a:pPr>
            <a:endParaRPr lang="en-AU" sz="900" b="1" baseline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AU" sz="9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1: </a:t>
            </a:r>
            <a:r>
              <a:rPr lang="en-AU" sz="9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Tier 3 (Red) Severe Weather</a:t>
            </a:r>
            <a:endParaRPr lang="en-AU" sz="900" b="0" kern="1200" baseline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9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2: </a:t>
            </a:r>
            <a:r>
              <a:rPr lang="en-AU" sz="900" b="0" baseline="0">
                <a:solidFill>
                  <a:srgbClr val="71C5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Tier 1 (Blue) COVID-19 Response</a:t>
            </a:r>
            <a:endParaRPr lang="en-AU" sz="900" b="0">
              <a:solidFill>
                <a:srgbClr val="71C5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314">
            <a:extLst>
              <a:ext uri="{FF2B5EF4-FFF2-40B4-BE49-F238E27FC236}">
                <a16:creationId xmlns:a16="http://schemas.microsoft.com/office/drawing/2014/main" id="{EF167219-F06E-46B1-A454-E13CDDCF7B59}"/>
              </a:ext>
            </a:extLst>
          </p:cNvPr>
          <p:cNvSpPr txBox="1"/>
          <p:nvPr userDrawn="1"/>
        </p:nvSpPr>
        <p:spPr>
          <a:xfrm>
            <a:off x="670306" y="361465"/>
            <a:ext cx="4282422" cy="32332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="0" i="0" u="none" strike="noStrike" baseline="0">
                <a:solidFill>
                  <a:schemeClr val="bg1"/>
                </a:solidFill>
                <a:latin typeface="Arial"/>
                <a:cs typeface="Arial"/>
              </a:rPr>
              <a:t>Current as at 0700hrs Thursday 10 November 2022</a:t>
            </a:r>
            <a:endParaRPr lang="en-AU" sz="1000" b="0" baseline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A6326-6E06-4CB3-A0F2-AEAFE1D2247A}"/>
              </a:ext>
            </a:extLst>
          </p:cNvPr>
          <p:cNvSpPr txBox="1"/>
          <p:nvPr userDrawn="1"/>
        </p:nvSpPr>
        <p:spPr>
          <a:xfrm>
            <a:off x="3515541" y="-13270"/>
            <a:ext cx="211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b="1">
                <a:solidFill>
                  <a:srgbClr val="FF0000"/>
                </a:solidFill>
              </a:rPr>
              <a:t>Official: Sensitive</a:t>
            </a:r>
          </a:p>
        </p:txBody>
      </p:sp>
    </p:spTree>
    <p:extLst>
      <p:ext uri="{BB962C8B-B14F-4D97-AF65-F5344CB8AC3E}">
        <p14:creationId xmlns:p14="http://schemas.microsoft.com/office/powerpoint/2010/main" val="12306431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tion Button: Custom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B97CB2A-3EB6-5F48-A34E-286528A879B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actionButtonBlank">
            <a:avLst/>
          </a:prstGeom>
          <a:solidFill>
            <a:srgbClr val="1E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2C04BCE-30C9-684C-A3EB-F6A91B2F99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473" y="4451039"/>
            <a:ext cx="759919" cy="43163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5DF4B9C-63E5-174D-A128-F0AAB13A624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000" b="6172"/>
          <a:stretch/>
        </p:blipFill>
        <p:spPr>
          <a:xfrm rot="10800000">
            <a:off x="7669758" y="-3"/>
            <a:ext cx="1474241" cy="18101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AACA53-3E0A-4DD2-9FDD-D2D5DA7A2ABD}"/>
              </a:ext>
            </a:extLst>
          </p:cNvPr>
          <p:cNvSpPr txBox="1"/>
          <p:nvPr userDrawn="1"/>
        </p:nvSpPr>
        <p:spPr>
          <a:xfrm>
            <a:off x="5116817" y="4414636"/>
            <a:ext cx="2778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>
                <a:solidFill>
                  <a:srgbClr val="FF0000"/>
                </a:solidFill>
              </a:rPr>
              <a:t>Official: Sensitive </a:t>
            </a:r>
          </a:p>
        </p:txBody>
      </p:sp>
    </p:spTree>
    <p:extLst>
      <p:ext uri="{BB962C8B-B14F-4D97-AF65-F5344CB8AC3E}">
        <p14:creationId xmlns:p14="http://schemas.microsoft.com/office/powerpoint/2010/main" val="35840877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53EFC6-2AA9-B041-93D0-520EE45C1C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29" r="8020" b="88519"/>
          <a:stretch/>
        </p:blipFill>
        <p:spPr>
          <a:xfrm>
            <a:off x="1" y="-13639"/>
            <a:ext cx="9144000" cy="706051"/>
          </a:xfrm>
          <a:prstGeom prst="rect">
            <a:avLst/>
          </a:prstGeom>
        </p:spPr>
      </p:pic>
      <p:sp>
        <p:nvSpPr>
          <p:cNvPr id="8" name="TextBox 35">
            <a:extLst>
              <a:ext uri="{FF2B5EF4-FFF2-40B4-BE49-F238E27FC236}">
                <a16:creationId xmlns:a16="http://schemas.microsoft.com/office/drawing/2014/main" id="{8F1671FE-B804-A544-9774-EC7F626E7692}"/>
              </a:ext>
            </a:extLst>
          </p:cNvPr>
          <p:cNvSpPr txBox="1"/>
          <p:nvPr userDrawn="1"/>
        </p:nvSpPr>
        <p:spPr>
          <a:xfrm>
            <a:off x="670306" y="85219"/>
            <a:ext cx="3299962" cy="3355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1600" b="1" u="none">
                <a:solidFill>
                  <a:srgbClr val="71C5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Operational Summary</a:t>
            </a:r>
            <a:endParaRPr lang="en-AU" sz="1600" b="1" u="none" baseline="0">
              <a:solidFill>
                <a:srgbClr val="71C5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AU" sz="1800" b="1" u="sng" baseline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85AE1-CBC3-F141-A845-EB65D1DA8544}"/>
              </a:ext>
            </a:extLst>
          </p:cNvPr>
          <p:cNvSpPr/>
          <p:nvPr userDrawn="1"/>
        </p:nvSpPr>
        <p:spPr>
          <a:xfrm>
            <a:off x="5587441" y="72979"/>
            <a:ext cx="35801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AU" sz="1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Control Centre Activation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8D6983-ADC7-964E-803E-B72624D57E44}"/>
              </a:ext>
            </a:extLst>
          </p:cNvPr>
          <p:cNvCxnSpPr>
            <a:cxnSpLocks/>
          </p:cNvCxnSpPr>
          <p:nvPr userDrawn="1"/>
        </p:nvCxnSpPr>
        <p:spPr>
          <a:xfrm>
            <a:off x="5595676" y="132341"/>
            <a:ext cx="0" cy="43200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EBDDC596-75D0-954A-9292-8F7D9B8E6F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097" y="94097"/>
            <a:ext cx="427550" cy="5301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7940B4-EC02-4285-BF96-A1EB7E4F11D8}"/>
              </a:ext>
            </a:extLst>
          </p:cNvPr>
          <p:cNvSpPr/>
          <p:nvPr userDrawn="1"/>
        </p:nvSpPr>
        <p:spPr>
          <a:xfrm>
            <a:off x="5595676" y="256376"/>
            <a:ext cx="3174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1: </a:t>
            </a:r>
            <a:r>
              <a:rPr lang="en-AU" sz="8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(White)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2: </a:t>
            </a:r>
            <a:r>
              <a:rPr lang="en-AU" sz="8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(White)</a:t>
            </a:r>
          </a:p>
        </p:txBody>
      </p:sp>
      <p:sp>
        <p:nvSpPr>
          <p:cNvPr id="13" name="TextBox 314">
            <a:extLst>
              <a:ext uri="{FF2B5EF4-FFF2-40B4-BE49-F238E27FC236}">
                <a16:creationId xmlns:a16="http://schemas.microsoft.com/office/drawing/2014/main" id="{EF167219-F06E-46B1-A454-E13CDDCF7B59}"/>
              </a:ext>
            </a:extLst>
          </p:cNvPr>
          <p:cNvSpPr txBox="1"/>
          <p:nvPr userDrawn="1"/>
        </p:nvSpPr>
        <p:spPr>
          <a:xfrm>
            <a:off x="678536" y="369090"/>
            <a:ext cx="4671040" cy="32332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="0" i="0" u="none" strike="noStrike" baseline="0">
                <a:solidFill>
                  <a:schemeClr val="bg1"/>
                </a:solidFill>
                <a:latin typeface="Arial"/>
                <a:cs typeface="Arial"/>
              </a:rPr>
              <a:t>Current as at 0830hrs on Wednesday 07 May 2025</a:t>
            </a:r>
            <a:endParaRPr lang="en-AU" sz="1000" b="0" baseline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A6326-6E06-4CB3-A0F2-AEAFE1D2247A}"/>
              </a:ext>
            </a:extLst>
          </p:cNvPr>
          <p:cNvSpPr txBox="1"/>
          <p:nvPr userDrawn="1"/>
        </p:nvSpPr>
        <p:spPr>
          <a:xfrm>
            <a:off x="3521396" y="112938"/>
            <a:ext cx="21129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Official: Sensitive</a:t>
            </a:r>
          </a:p>
          <a:p>
            <a:pPr algn="ctr"/>
            <a:r>
              <a:rPr lang="en-AU" sz="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internal use only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43987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80F17-0D27-3747-90C9-CB1C8E2459C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B5F29-0D04-AE47-B4FB-F203253D95A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D8702-0DA6-9ACD-BBE5-47D53408B02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3811588" y="190500"/>
            <a:ext cx="1566862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100">
                <a:solidFill>
                  <a:srgbClr val="FF0000"/>
                </a:solidFill>
                <a:latin typeface="Arial Black" panose="020B0A04020102020204" pitchFamily="34" charset="0"/>
              </a:rPr>
              <a:t>OFFICIAL: Sensitive</a:t>
            </a:r>
          </a:p>
        </p:txBody>
      </p:sp>
    </p:spTree>
    <p:custDataLst>
      <p:tags r:id="rId24"/>
    </p:custDataLst>
    <p:extLst>
      <p:ext uri="{BB962C8B-B14F-4D97-AF65-F5344CB8AC3E}">
        <p14:creationId xmlns:p14="http://schemas.microsoft.com/office/powerpoint/2010/main" val="297409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5" r:id="rId12"/>
    <p:sldLayoutId id="2147483686" r:id="rId13"/>
    <p:sldLayoutId id="2147483712" r:id="rId14"/>
    <p:sldLayoutId id="2147483713" r:id="rId15"/>
    <p:sldLayoutId id="2147483723" r:id="rId16"/>
    <p:sldLayoutId id="2147483724" r:id="rId17"/>
    <p:sldLayoutId id="2147483726" r:id="rId18"/>
    <p:sldLayoutId id="2147483727" r:id="rId19"/>
    <p:sldLayoutId id="2147483737" r:id="rId20"/>
    <p:sldLayoutId id="2147483738" r:id="rId21"/>
    <p:sldLayoutId id="2147483740" r:id="rId2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svg"/><Relationship Id="rId7" Type="http://schemas.openxmlformats.org/officeDocument/2006/relationships/image" Target="../media/image10.svg"/><Relationship Id="rId8" Type="http://schemas.openxmlformats.org/officeDocument/2006/relationships/image" Target="../media/image11.svg"/><Relationship Id="rId9" Type="http://schemas.openxmlformats.org/officeDocument/2006/relationships/image" Target="../media/image12.svg"/><Relationship Id="rId10" Type="http://schemas.openxmlformats.org/officeDocument/2006/relationships/image" Target="../media/image13.svg"/><Relationship Id="rId11" Type="http://schemas.openxmlformats.org/officeDocument/2006/relationships/image" Target="../media/image14.svg"/><Relationship Id="rId12" Type="http://schemas.openxmlformats.org/officeDocument/2006/relationships/image" Target="../media/image15.svg"/><Relationship Id="rId13" Type="http://schemas.openxmlformats.org/officeDocument/2006/relationships/image" Target="../media/image16.svg"/><Relationship Id="rId14" Type="http://schemas.openxmlformats.org/officeDocument/2006/relationships/image" Target="../media/image17.svg"/><Relationship Id="rId15" Type="http://schemas.openxmlformats.org/officeDocument/2006/relationships/image" Target="../media/image18.svg"/><Relationship Id="rId16" Type="http://schemas.openxmlformats.org/officeDocument/2006/relationships/image" Target="../media/image19.svg"/><Relationship Id="rId17" Type="http://schemas.openxmlformats.org/officeDocument/2006/relationships/slide" Target="slide2.xml"/><Relationship Id="rId18" Type="http://schemas.openxmlformats.org/officeDocument/2006/relationships/slide" Target="slide3.xml"/><Relationship Id="rId19" Type="http://schemas.openxmlformats.org/officeDocument/2006/relationships/slide" Target="slide4.xml"/><Relationship Id="rId21" Type="http://schemas.openxmlformats.org/officeDocument/2006/relationships/slide" Target="slide5.xml"/><Relationship Id="rId22" Type="http://schemas.openxmlformats.org/officeDocument/2006/relationships/slide" Target="slide6.xml"/><Relationship Id="rId23" Type="http://schemas.openxmlformats.org/officeDocument/2006/relationships/slide" Target="slide8.xml"/><Relationship Id="rId24" Type="http://schemas.openxmlformats.org/officeDocument/2006/relationships/slide" Target="slide10.xml"/><Relationship Id="rId25" Type="http://schemas.openxmlformats.org/officeDocument/2006/relationships/slide" Target="slide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hyperlink" Target="https://www.emergency.vic.gov.au/respond/" TargetMode="External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tags" Target="../tags/tag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hyperlink" Target="http://www.bom.gov.au/vic/warnings/" TargetMode="External"/><Relationship Id="rId6" Type="http://schemas.openxmlformats.org/officeDocument/2006/relationships/hyperlink" Target="http://www.bom.gov.au/vic/forecasts/state.shtml" TargetMode="External"/><Relationship Id="rId7" Type="http://schemas.openxmlformats.org/officeDocument/2006/relationships/hyperlink" Target="https://files-portal.em.vic.gov.au/refdocs/FireWxBriefing.pdf?v=1756554796471" TargetMode="External"/><Relationship Id="rId8" Type="http://schemas.openxmlformats.org/officeDocument/2006/relationships/hyperlink" Target="https://files-portal.em.vic.gov.au/refdocs/IDV22320.pdf?v=1643600546590" TargetMode="External"/><Relationship Id="rId9" Type="http://schemas.openxmlformats.org/officeDocument/2006/relationships/image" Target="../media/image24.png"/><Relationship Id="rId11" Type="http://schemas.openxmlformats.org/officeDocument/2006/relationships/image" Target="../media/image7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hyperlink" Target="https://www.health.vic.gov.au/news-and-events/cho-health-advisory-alerts/" TargetMode="External"/><Relationship Id="rId5" Type="http://schemas.openxmlformats.org/officeDocument/2006/relationships/hyperlink" Target="https://www.health.vic.gov.au/health-advisories/poisonous-mushrooms-growing-victoria" TargetMode="External"/><Relationship Id="rId7" Type="http://schemas.openxmlformats.org/officeDocument/2006/relationships/hyperlink" Target="https://www.health.vic.gov.au/health-alerts/avian-influenza-found-in-birds-in-victoria?utm_medium=email&amp;utm_campaign=CHO+alert+-+Avian+Flu+found+in+birds+in+Victoria+-+31+July+2026&amp;utm_content=https://www.health.vic.gov.au/health-alerts/avian-influenza-found-in-birds-in-victoria&amp;utm_source=comms.health.vic.gov.au" TargetMode="External"/><Relationship Id="rId9" Type="http://schemas.openxmlformats.org/officeDocument/2006/relationships/hyperlink" Target="https://transport.vic.gov.au/disruptions/disruptions-information" TargetMode="External"/><Relationship Id="rId10" Type="http://schemas.openxmlformats.org/officeDocument/2006/relationships/hyperlink" Target="https://www.vline.com.au/" TargetMode="External"/><Relationship Id="rId11" Type="http://schemas.openxmlformats.org/officeDocument/2006/relationships/hyperlink" Target="https://twitter.com/Melair" TargetMode="External"/><Relationship Id="rId12" Type="http://schemas.openxmlformats.org/officeDocument/2006/relationships/hyperlink" Target="https://avalonairport.com.au/flights/flight-schedule/" TargetMode="External"/><Relationship Id="rId13" Type="http://schemas.openxmlformats.org/officeDocument/2006/relationships/hyperlink" Target="https://twitter.com/AvalonAirportAU" TargetMode="External"/><Relationship Id="rId14" Type="http://schemas.openxmlformats.org/officeDocument/2006/relationships/hyperlink" Target="http://alerts.vicroads.vic.gov.au/" TargetMode="External"/><Relationship Id="rId15" Type="http://schemas.openxmlformats.org/officeDocument/2006/relationships/hyperlink" Target="https://twitter.com/VicTraffic" TargetMode="External"/><Relationship Id="rId16" Type="http://schemas.openxmlformats.org/officeDocument/2006/relationships/hyperlink" Target="https://www.linkt.com.au/melbourne/using-toll-roads/traffic-and-alerts" TargetMode="External"/><Relationship Id="rId18" Type="http://schemas.openxmlformats.org/officeDocument/2006/relationships/hyperlink" Target="https://www2.health.vic.gov.au/public-health/environmental-health/climate-weather-and-public-health/thunderstorm-asthma/forecasting" TargetMode="External"/><Relationship Id="rId21" Type="http://schemas.openxmlformats.org/officeDocument/2006/relationships/hyperlink" Target="https://www.health.vic.gov.au/public-health/chief-health-officer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hyperlink" Target="https://earthquakes.ga.gov.au/" TargetMode="External"/><Relationship Id="rId5" Type="http://schemas.openxmlformats.org/officeDocument/2006/relationships/hyperlink" Target="http://www.bom.gov.au/tsunami/" TargetMode="External"/><Relationship Id="rId6" Type="http://schemas.openxmlformats.org/officeDocument/2006/relationships/hyperlink" Target="https://files-portal.em.vic.gov.au/refdocs/IDV35015.pdf?v=3" TargetMode="External"/><Relationship Id="rId7" Type="http://schemas.openxmlformats.org/officeDocument/2006/relationships/hyperlink" Target="https://www.nationalsecurity.gov.au/national-threat-level/current-national-terrorism-threat-level" TargetMode="External"/><Relationship Id="rId8" Type="http://schemas.openxmlformats.org/officeDocument/2006/relationships/hyperlink" Target="http://app.prod.cop.em.vic.gov.au/sadisplay/poweroutages/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hyperlink" Target="https://plannedburns.ffm.vic.gov.au/search-results" TargetMode="External"/><Relationship Id="rId5" Type="http://schemas.openxmlformats.org/officeDocument/2006/relationships/hyperlink" Target="https://www.cfa.vic.gov.au/warnings-restrictions/fire-bans-ratings-and-restrictions/total-fire-bans-fire-danger-ratings" TargetMode="External"/><Relationship Id="rId6" Type="http://schemas.openxmlformats.org/officeDocument/2006/relationships/hyperlink" Target="https://www.cfa.vic.gov.au/warnings-restrictions/fire-danger-period/fire-restriction-dates" TargetMode="External"/><Relationship Id="rId8" Type="http://schemas.openxmlformats.org/officeDocument/2006/relationships/image" Target="../media/image30.svg"/><Relationship Id="rId9" Type="http://schemas.openxmlformats.org/officeDocument/2006/relationships/image" Target="../media/image31.svg"/><Relationship Id="rId10" Type="http://schemas.openxmlformats.org/officeDocument/2006/relationships/image" Target="../media/image32.sv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hyperlink" Target="https://www.ffm.vic.gov.au/permits-and-regulations/fire-restriction-dates" TargetMode="External"/><Relationship Id="rId14" Type="http://schemas.openxmlformats.org/officeDocument/2006/relationships/image" Target="../media/image35.png"/><Relationship Id="rId15" Type="http://schemas.openxmlformats.org/officeDocument/2006/relationships/slide" Target="slide9.xml"/><Relationship Id="rId16" Type="http://schemas.openxmlformats.org/officeDocument/2006/relationships/image" Target="../media/image28.png"/><Relationship Id="rId17" Type="http://schemas.microsoft.com/office/2007/relationships/hdphoto" Target="../media/hdphoto1.wdp"/><Relationship Id="rId18" Type="http://schemas.openxmlformats.org/officeDocument/2006/relationships/image" Target="../media/image29.png"/><Relationship Id="rId19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5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1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files-portal.em.vic.gov.au/refdocs/SCC-ActivationLevels.htm?v=1620520720076" TargetMode="External"/><Relationship Id="rId4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hyperlink" Target="http://www.bom.gov.au/vic/warnings/" TargetMode="External"/><Relationship Id="rId5" Type="http://schemas.openxmlformats.org/officeDocument/2006/relationships/hyperlink" Target="http://www.bom.gov.au/vic/forecasts/state.shtml" TargetMode="External"/><Relationship Id="rId6" Type="http://schemas.openxmlformats.org/officeDocument/2006/relationships/hyperlink" Target="https://www2.health.vic.gov.au/public-health/chief-health-officer" TargetMode="External"/><Relationship Id="rId7" Type="http://schemas.openxmlformats.org/officeDocument/2006/relationships/hyperlink" Target="http://www.health.vic.gov.au/heat-health-alert-system/index.htm" TargetMode="External"/><Relationship Id="rId8" Type="http://schemas.openxmlformats.org/officeDocument/2006/relationships/hyperlink" Target="https://www2.health.vic.gov.au/public-health/environmental-health/climate-weather-and-public-health/thunderstorm-asthma/forecasting" TargetMode="External"/><Relationship Id="rId9" Type="http://schemas.openxmlformats.org/officeDocument/2006/relationships/hyperlink" Target="https://earthquakes.ga.gov.au/" TargetMode="External"/><Relationship Id="rId10" Type="http://schemas.openxmlformats.org/officeDocument/2006/relationships/hyperlink" Target="http://www.bom.gov.au/tsunami/" TargetMode="External"/><Relationship Id="rId11" Type="http://schemas.openxmlformats.org/officeDocument/2006/relationships/hyperlink" Target="https://files-portal.em.vic.gov.au/refdocs/IDV35015.pdf?v=3" TargetMode="External"/><Relationship Id="rId12" Type="http://schemas.openxmlformats.org/officeDocument/2006/relationships/hyperlink" Target="https://www.nationalsecurity.gov.au/national-threat-level/current-national-terrorism-threat-level" TargetMode="External"/><Relationship Id="rId13" Type="http://schemas.openxmlformats.org/officeDocument/2006/relationships/hyperlink" Target="http://app.prod.cop.em.vic.gov.au/sadisplay/poweroutages/" TargetMode="External"/><Relationship Id="rId14" Type="http://schemas.openxmlformats.org/officeDocument/2006/relationships/hyperlink" Target="https://www.cfa.vic.gov.au/warnings-restrictions/total-fire-bans-and-ratings/" TargetMode="External"/><Relationship Id="rId15" Type="http://schemas.openxmlformats.org/officeDocument/2006/relationships/hyperlink" Target="https://www.cfa.vic.gov.au/warnings-restrictions/fire-danger-period-restrictions" TargetMode="External"/><Relationship Id="rId16" Type="http://schemas.openxmlformats.org/officeDocument/2006/relationships/hyperlink" Target="https://www.ffm.vic.gov.au/permits-and-regulations/fire-restriction-dates" TargetMode="External"/><Relationship Id="rId17" Type="http://schemas.openxmlformats.org/officeDocument/2006/relationships/hyperlink" Target="https://plannedburns.ffm.vic.gov.au/" TargetMode="External"/><Relationship Id="rId18" Type="http://schemas.openxmlformats.org/officeDocument/2006/relationships/hyperlink" Target="http://ptv.vic.gov.au/live-travel-updates/" TargetMode="External"/><Relationship Id="rId19" Type="http://schemas.openxmlformats.org/officeDocument/2006/relationships/hyperlink" Target="https://twitter.com/Melair" TargetMode="External"/><Relationship Id="rId20" Type="http://schemas.openxmlformats.org/officeDocument/2006/relationships/hyperlink" Target="http://www.avalonairport.com.au/at-avalon/flight-schedules/" TargetMode="External"/><Relationship Id="rId21" Type="http://schemas.openxmlformats.org/officeDocument/2006/relationships/hyperlink" Target="https://twitter.com/AvalonAirportAU" TargetMode="External"/><Relationship Id="rId22" Type="http://schemas.openxmlformats.org/officeDocument/2006/relationships/hyperlink" Target="https://www.vline.com.au/" TargetMode="External"/><Relationship Id="rId23" Type="http://schemas.openxmlformats.org/officeDocument/2006/relationships/hyperlink" Target="http://alerts.vicroads.vic.gov.au/" TargetMode="External"/><Relationship Id="rId24" Type="http://schemas.openxmlformats.org/officeDocument/2006/relationships/hyperlink" Target="https://twitter.com/VicTraffic" TargetMode="External"/><Relationship Id="rId25" Type="http://schemas.openxmlformats.org/officeDocument/2006/relationships/hyperlink" Target="https://www.linkt.com.au/melbourne/using-toll-roads/traffic-and-alerts" TargetMode="External"/><Relationship Id="rId26" Type="http://schemas.openxmlformats.org/officeDocument/2006/relationships/hyperlink" Target="https://files-portal.em.vic.gov.au/refdocs/SCC-ActivationLevels.htm?v=1620520720076" TargetMode="External"/><Relationship Id="rId27" Type="http://schemas.openxmlformats.org/officeDocument/2006/relationships/hyperlink" Target="https://files-em.em.vic.gov.au/Walls/IDV21032.html?v=1709696087146" TargetMode="External"/><Relationship Id="rId28" Type="http://schemas.openxmlformats.org/officeDocument/2006/relationships/hyperlink" Target="https://files-em.em.vic.gov.au/intelligence/intelligence-Reports.htm?v=1620518825093" TargetMode="External"/><Relationship Id="rId29" Type="http://schemas.openxmlformats.org/officeDocument/2006/relationships/image" Target="../media/image45.png"/><Relationship Id="rId30" Type="http://schemas.openxmlformats.org/officeDocument/2006/relationships/hyperlink" Target="https://files-portal.em.vic.gov.au/refdocs/SCC-Weekly-Intel-Summary.pdf?v=3" TargetMode="External"/><Relationship Id="rId31" Type="http://schemas.openxmlformats.org/officeDocument/2006/relationships/image" Target="../media/image46.png"/><Relationship Id="rId32" Type="http://schemas.openxmlformats.org/officeDocument/2006/relationships/hyperlink" Target="https://files-portal.em.vic.gov.au/refdocs/SCC-Map-Pack.pdf?v=3" TargetMode="External"/><Relationship Id="rId33" Type="http://schemas.openxmlformats.org/officeDocument/2006/relationships/image" Target="../media/image47.png"/><Relationship Id="rId34" Type="http://schemas.openxmlformats.org/officeDocument/2006/relationships/hyperlink" Target="https://files-portal.em.vic.gov.au/refdocs/SCC-SituationReport.pdf?v=3" TargetMode="External"/><Relationship Id="rId35" Type="http://schemas.openxmlformats.org/officeDocument/2006/relationships/image" Target="../media/image48.png"/><Relationship Id="rId36" Type="http://schemas.openxmlformats.org/officeDocument/2006/relationships/hyperlink" Target="https://files-portal.em.vic.gov.au/refdocs/SCC-SituationUpdate.pdf?v=3" TargetMode="External"/><Relationship Id="rId37" Type="http://schemas.openxmlformats.org/officeDocument/2006/relationships/image" Target="../media/image49.png"/><Relationship Id="rId38" Type="http://schemas.openxmlformats.org/officeDocument/2006/relationships/hyperlink" Target="https://files-portal.em.vic.gov.au/refdocs/SCC-SignificantIncidentSituationUpdate.pdf?v=3" TargetMode="External"/><Relationship Id="rId39" Type="http://schemas.openxmlformats.org/officeDocument/2006/relationships/image" Target="../media/image50.png"/><Relationship Id="rId40" Type="http://schemas.openxmlformats.org/officeDocument/2006/relationships/hyperlink" Target="https://files-portal.em.vic.gov.au/refdocs/SCC-StateReliefRecoveryReport.pdf?v=3" TargetMode="External"/><Relationship Id="rId41" Type="http://schemas.openxmlformats.org/officeDocument/2006/relationships/image" Target="../media/image51.png"/><Relationship Id="rId42" Type="http://schemas.openxmlformats.org/officeDocument/2006/relationships/hyperlink" Target="https://files-portal.em.vic.gov.au/refdocs/SCC-Briefing.pdf?v=3" TargetMode="External"/><Relationship Id="rId43" Type="http://schemas.openxmlformats.org/officeDocument/2006/relationships/image" Target="../media/image52.png"/><Relationship Id="rId44" Type="http://schemas.openxmlformats.org/officeDocument/2006/relationships/hyperlink" Target="https://files-portal.em.vic.gov.au/refdocs/IDV22322.pdf?v=3" TargetMode="External"/><Relationship Id="rId45" Type="http://schemas.openxmlformats.org/officeDocument/2006/relationships/image" Target="../media/image53.png"/><Relationship Id="rId46" Type="http://schemas.openxmlformats.org/officeDocument/2006/relationships/hyperlink" Target="https://files-portal.em.vic.gov.au/refdocs/IDV22321.pdf?v=3" TargetMode="External"/><Relationship Id="rId47" Type="http://schemas.openxmlformats.org/officeDocument/2006/relationships/image" Target="../media/image54.png"/><Relationship Id="rId48" Type="http://schemas.openxmlformats.org/officeDocument/2006/relationships/hyperlink" Target="https://files-portal.em.vic.gov.au/refdocs/IDV22320.pdf?v=1760743739035" TargetMode="External"/><Relationship Id="rId49" Type="http://schemas.openxmlformats.org/officeDocument/2006/relationships/image" Target="../media/image55.png"/><Relationship Id="rId50" Type="http://schemas.openxmlformats.org/officeDocument/2006/relationships/hyperlink" Target="http://www.bom.gov.au/jsp/watl/rainfall/pme.jsp" TargetMode="External"/><Relationship Id="rId51" Type="http://schemas.openxmlformats.org/officeDocument/2006/relationships/image" Target="../media/image56.png"/><Relationship Id="rId52" Type="http://schemas.openxmlformats.org/officeDocument/2006/relationships/hyperlink" Target="https://files-portal.em.vic.gov.au/refdocs/FireWxBriefing.pdf?v=3" TargetMode="External"/><Relationship Id="rId53" Type="http://schemas.openxmlformats.org/officeDocument/2006/relationships/image" Target="../media/image57.png"/><Relationship Id="rId54" Type="http://schemas.openxmlformats.org/officeDocument/2006/relationships/hyperlink" Target="https://files-em.em.vic.gov.au/Walls/IDV65059.jpg?v=3" TargetMode="External"/><Relationship Id="rId55" Type="http://schemas.openxmlformats.org/officeDocument/2006/relationships/image" Target="../media/image58.png"/><Relationship Id="rId56" Type="http://schemas.openxmlformats.org/officeDocument/2006/relationships/hyperlink" Target="https://fireweb.ffm.vic.gov.au/Firemod/FDI/fire_danger_indices_daily.pdf?v=3" TargetMode="External"/><Relationship Id="rId57" Type="http://schemas.openxmlformats.org/officeDocument/2006/relationships/image" Target="../media/image59.png"/><Relationship Id="rId58" Type="http://schemas.openxmlformats.org/officeDocument/2006/relationships/image" Target="../media/image60.svg"/><Relationship Id="rId59" Type="http://schemas.openxmlformats.org/officeDocument/2006/relationships/image" Target="../media/image6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1.xml"/><Relationship Id="rId3" Type="http://schemas.openxmlformats.org/officeDocument/2006/relationships/hyperlink" Target="http://www.bom.gov.au/vic/warnings/" TargetMode="External"/><Relationship Id="rId5" Type="http://schemas.openxmlformats.org/officeDocument/2006/relationships/image" Target="../media/image62.png"/><Relationship Id="rId6" Type="http://schemas.openxmlformats.org/officeDocument/2006/relationships/image" Target="../media/image44.png"/><Relationship Id="rId7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7DCB9864-A647-3D45-8731-228AFEF1C95D}"/>
              </a:ext>
            </a:extLst>
          </p:cNvPr>
          <p:cNvGrpSpPr/>
          <p:nvPr/>
        </p:nvGrpSpPr>
        <p:grpSpPr>
          <a:xfrm>
            <a:off x="447440" y="1099952"/>
            <a:ext cx="1800930" cy="950409"/>
            <a:chOff x="447440" y="1099952"/>
            <a:chExt cx="1800930" cy="950409"/>
          </a:xfrm>
        </p:grpSpPr>
        <p:sp>
          <p:nvSpPr>
            <p:cNvPr id="25" name="Action Button: Custom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7E78D5A8-DB84-7F42-B3DE-D3E3ED79078F}"/>
                </a:ext>
              </a:extLst>
            </p:cNvPr>
            <p:cNvSpPr/>
            <p:nvPr/>
          </p:nvSpPr>
          <p:spPr>
            <a:xfrm>
              <a:off x="447440" y="1099952"/>
              <a:ext cx="1800930" cy="950409"/>
            </a:xfrm>
            <a:prstGeom prst="actionButtonBlank">
              <a:avLst/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4505D5-096C-BF4B-9743-029AB5477009}"/>
                </a:ext>
              </a:extLst>
            </p:cNvPr>
            <p:cNvGrpSpPr/>
            <p:nvPr/>
          </p:nvGrpSpPr>
          <p:grpSpPr>
            <a:xfrm>
              <a:off x="456679" y="1308447"/>
              <a:ext cx="1760993" cy="627178"/>
              <a:chOff x="447850" y="1284682"/>
              <a:chExt cx="1760993" cy="62717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AA94E4B-0C7D-8F4D-B7CB-899521BF9129}"/>
                  </a:ext>
                </a:extLst>
              </p:cNvPr>
              <p:cNvSpPr/>
              <p:nvPr/>
            </p:nvSpPr>
            <p:spPr>
              <a:xfrm>
                <a:off x="447850" y="1681028"/>
                <a:ext cx="1760993" cy="2308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900" b="1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Operational Summary</a:t>
                </a:r>
              </a:p>
            </p:txBody>
          </p:sp>
          <p:pic>
            <p:nvPicPr>
              <p:cNvPr id="63" name="Graphic 62">
                <a:extLst>
                  <a:ext uri="{FF2B5EF4-FFF2-40B4-BE49-F238E27FC236}">
                    <a16:creationId xmlns:a16="http://schemas.microsoft.com/office/drawing/2014/main" id="{D3306A9C-9B54-B04F-BB45-5CB892F38C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24067" y="1284682"/>
                <a:ext cx="365414" cy="453113"/>
              </a:xfrm>
              <a:prstGeom prst="rect">
                <a:avLst/>
              </a:prstGeom>
            </p:spPr>
          </p:pic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EEE9546-D434-CB47-8F7E-CD4243C3F512}"/>
              </a:ext>
            </a:extLst>
          </p:cNvPr>
          <p:cNvGrpSpPr/>
          <p:nvPr/>
        </p:nvGrpSpPr>
        <p:grpSpPr>
          <a:xfrm>
            <a:off x="2345619" y="1104748"/>
            <a:ext cx="1800930" cy="950409"/>
            <a:chOff x="2345619" y="1118633"/>
            <a:chExt cx="1800930" cy="936524"/>
          </a:xfrm>
        </p:grpSpPr>
        <p:sp>
          <p:nvSpPr>
            <p:cNvPr id="67" name="Action Button: Custom 6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8233BE5-C976-D548-A9A6-A6A23739CA70}"/>
                </a:ext>
              </a:extLst>
            </p:cNvPr>
            <p:cNvSpPr/>
            <p:nvPr/>
          </p:nvSpPr>
          <p:spPr>
            <a:xfrm>
              <a:off x="2345619" y="1118633"/>
              <a:ext cx="1800930" cy="936524"/>
            </a:xfrm>
            <a:prstGeom prst="actionButtonBlank">
              <a:avLst/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04F1F8E-A526-394D-B4C4-0F77967193B4}"/>
                </a:ext>
              </a:extLst>
            </p:cNvPr>
            <p:cNvGrpSpPr/>
            <p:nvPr/>
          </p:nvGrpSpPr>
          <p:grpSpPr>
            <a:xfrm>
              <a:off x="2356349" y="1208647"/>
              <a:ext cx="1758108" cy="763975"/>
              <a:chOff x="2360796" y="1267215"/>
              <a:chExt cx="1758108" cy="76397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33F3927-9C97-0142-9524-83E9160B3747}"/>
                  </a:ext>
                </a:extLst>
              </p:cNvPr>
              <p:cNvSpPr/>
              <p:nvPr/>
            </p:nvSpPr>
            <p:spPr>
              <a:xfrm>
                <a:off x="2360796" y="1661858"/>
                <a:ext cx="175810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</a:pPr>
                <a:r>
                  <a:rPr lang="en-AU" sz="900" b="1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Weather and </a:t>
                </a:r>
                <a:br>
                  <a:rPr lang="en-AU" sz="900" b="1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900" b="1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Seasonal Forecasts</a:t>
                </a:r>
              </a:p>
            </p:txBody>
          </p:sp>
          <p:pic>
            <p:nvPicPr>
              <p:cNvPr id="88" name="Graphic 87">
                <a:extLst>
                  <a:ext uri="{FF2B5EF4-FFF2-40B4-BE49-F238E27FC236}">
                    <a16:creationId xmlns:a16="http://schemas.microsoft.com/office/drawing/2014/main" id="{2CCF03D8-7D9C-7648-A056-7579F18B83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b="14721"/>
              <a:stretch/>
            </p:blipFill>
            <p:spPr>
              <a:xfrm>
                <a:off x="3080610" y="1267215"/>
                <a:ext cx="365414" cy="386411"/>
              </a:xfrm>
              <a:prstGeom prst="rect">
                <a:avLst/>
              </a:prstGeom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42DF745-5EDC-6649-84B0-C6A99E286B3C}"/>
              </a:ext>
            </a:extLst>
          </p:cNvPr>
          <p:cNvGrpSpPr/>
          <p:nvPr/>
        </p:nvGrpSpPr>
        <p:grpSpPr>
          <a:xfrm>
            <a:off x="4254528" y="1112580"/>
            <a:ext cx="1800930" cy="936524"/>
            <a:chOff x="4254528" y="1112580"/>
            <a:chExt cx="1800930" cy="936524"/>
          </a:xfrm>
        </p:grpSpPr>
        <p:sp>
          <p:nvSpPr>
            <p:cNvPr id="68" name="Action Button: Custom 6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3D99F77-9F2E-204B-BCEC-454FB86AABEE}"/>
                </a:ext>
              </a:extLst>
            </p:cNvPr>
            <p:cNvSpPr/>
            <p:nvPr/>
          </p:nvSpPr>
          <p:spPr>
            <a:xfrm>
              <a:off x="4254528" y="1112580"/>
              <a:ext cx="1800930" cy="936524"/>
            </a:xfrm>
            <a:prstGeom prst="actionButtonBlank">
              <a:avLst/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F4AE424-D305-4442-85FE-9A26E5BE6246}"/>
                </a:ext>
              </a:extLst>
            </p:cNvPr>
            <p:cNvGrpSpPr/>
            <p:nvPr/>
          </p:nvGrpSpPr>
          <p:grpSpPr>
            <a:xfrm>
              <a:off x="4280030" y="1157088"/>
              <a:ext cx="1775428" cy="834280"/>
              <a:chOff x="4294358" y="1216080"/>
              <a:chExt cx="1775428" cy="83428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7C86F17-873C-2541-BF01-229B13231424}"/>
                  </a:ext>
                </a:extLst>
              </p:cNvPr>
              <p:cNvSpPr/>
              <p:nvPr/>
            </p:nvSpPr>
            <p:spPr>
              <a:xfrm>
                <a:off x="4294358" y="1681028"/>
                <a:ext cx="177542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</a:pPr>
                <a:r>
                  <a:rPr lang="en-AU" sz="900" b="1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Public Health and Ambulance Victoria</a:t>
                </a:r>
              </a:p>
            </p:txBody>
          </p:sp>
          <p:pic>
            <p:nvPicPr>
              <p:cNvPr id="90" name="Graphic 89">
                <a:extLst>
                  <a:ext uri="{FF2B5EF4-FFF2-40B4-BE49-F238E27FC236}">
                    <a16:creationId xmlns:a16="http://schemas.microsoft.com/office/drawing/2014/main" id="{8DA95220-7ACC-564B-ADF0-A9CD394F23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944679" y="1216080"/>
                <a:ext cx="445209" cy="559953"/>
              </a:xfrm>
              <a:prstGeom prst="rect">
                <a:avLst/>
              </a:prstGeom>
            </p:spPr>
          </p:pic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0A7BD3E-CF66-1544-8850-1D7995D894B0}"/>
              </a:ext>
            </a:extLst>
          </p:cNvPr>
          <p:cNvGrpSpPr/>
          <p:nvPr/>
        </p:nvGrpSpPr>
        <p:grpSpPr>
          <a:xfrm>
            <a:off x="6163437" y="1113836"/>
            <a:ext cx="1804764" cy="936524"/>
            <a:chOff x="6163437" y="1113836"/>
            <a:chExt cx="1804764" cy="936524"/>
          </a:xfrm>
        </p:grpSpPr>
        <p:sp>
          <p:nvSpPr>
            <p:cNvPr id="69" name="Action Button: Custom 6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6CB6582-57E8-DB43-B8ED-98ABE65F6088}"/>
                </a:ext>
              </a:extLst>
            </p:cNvPr>
            <p:cNvSpPr/>
            <p:nvPr/>
          </p:nvSpPr>
          <p:spPr>
            <a:xfrm>
              <a:off x="6163437" y="1113836"/>
              <a:ext cx="1800930" cy="936524"/>
            </a:xfrm>
            <a:prstGeom prst="actionButtonBlank">
              <a:avLst/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708A33F-B8B6-AE42-AFEC-44579026C8CD}"/>
                </a:ext>
              </a:extLst>
            </p:cNvPr>
            <p:cNvGrpSpPr/>
            <p:nvPr/>
          </p:nvGrpSpPr>
          <p:grpSpPr>
            <a:xfrm>
              <a:off x="6203358" y="1170315"/>
              <a:ext cx="1764843" cy="821053"/>
              <a:chOff x="6217801" y="1229307"/>
              <a:chExt cx="1764843" cy="821053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0710022-3788-1547-A9ED-ED91E109BA3C}"/>
                  </a:ext>
                </a:extLst>
              </p:cNvPr>
              <p:cNvSpPr/>
              <p:nvPr/>
            </p:nvSpPr>
            <p:spPr>
              <a:xfrm>
                <a:off x="6217801" y="1681028"/>
                <a:ext cx="176484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</a:pPr>
                <a:r>
                  <a:rPr lang="en-AU" sz="900" b="1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SCC 4 Day Activation Levels and Current Emergencies</a:t>
                </a:r>
              </a:p>
            </p:txBody>
          </p:sp>
          <p:pic>
            <p:nvPicPr>
              <p:cNvPr id="97" name="Graphic 96">
                <a:extLst>
                  <a:ext uri="{FF2B5EF4-FFF2-40B4-BE49-F238E27FC236}">
                    <a16:creationId xmlns:a16="http://schemas.microsoft.com/office/drawing/2014/main" id="{A8F72213-B65B-C445-B4F5-1B10F6401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887812" y="1229307"/>
                <a:ext cx="390647" cy="390647"/>
              </a:xfrm>
              <a:prstGeom prst="rect">
                <a:avLst/>
              </a:prstGeom>
            </p:spPr>
          </p:pic>
        </p:grpSp>
      </p:grpSp>
      <p:sp>
        <p:nvSpPr>
          <p:cNvPr id="73" name="Action Button: Custom 7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351DAF4-EFB7-3B40-ACC8-CD8A9F0798F1}"/>
              </a:ext>
            </a:extLst>
          </p:cNvPr>
          <p:cNvSpPr/>
          <p:nvPr/>
        </p:nvSpPr>
        <p:spPr>
          <a:xfrm>
            <a:off x="6166724" y="2121380"/>
            <a:ext cx="1800930" cy="936524"/>
          </a:xfrm>
          <a:prstGeom prst="actionButtonBlank">
            <a:avLst/>
          </a:prstGeom>
          <a:noFill/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74" name="Action Button: Custom 7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4E41EC6-C13E-CA46-A45E-504B4A5DCC21}"/>
              </a:ext>
            </a:extLst>
          </p:cNvPr>
          <p:cNvSpPr/>
          <p:nvPr/>
        </p:nvSpPr>
        <p:spPr>
          <a:xfrm>
            <a:off x="4252490" y="2121380"/>
            <a:ext cx="1800930" cy="936524"/>
          </a:xfrm>
          <a:prstGeom prst="actionButtonBlank">
            <a:avLst/>
          </a:prstGeom>
          <a:noFill/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75" name="Action Button: Custom 7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26619F2-1C31-864C-8EBB-13704DDDA565}"/>
              </a:ext>
            </a:extLst>
          </p:cNvPr>
          <p:cNvSpPr/>
          <p:nvPr/>
        </p:nvSpPr>
        <p:spPr>
          <a:xfrm>
            <a:off x="2349045" y="2121380"/>
            <a:ext cx="1800930" cy="936524"/>
          </a:xfrm>
          <a:prstGeom prst="actionButtonBlank">
            <a:avLst/>
          </a:prstGeom>
          <a:noFill/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76" name="Action Button: Custom 7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B5427A5-4648-4145-B528-CA393D3B44E6}"/>
              </a:ext>
            </a:extLst>
          </p:cNvPr>
          <p:cNvSpPr/>
          <p:nvPr/>
        </p:nvSpPr>
        <p:spPr>
          <a:xfrm>
            <a:off x="452672" y="2121380"/>
            <a:ext cx="1800930" cy="936524"/>
          </a:xfrm>
          <a:prstGeom prst="actionButtonBlank">
            <a:avLst/>
          </a:prstGeom>
          <a:noFill/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77" name="Action Button: Custom 7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4A2551-B1FC-D348-9AFC-7765BBC41237}"/>
              </a:ext>
            </a:extLst>
          </p:cNvPr>
          <p:cNvSpPr/>
          <p:nvPr/>
        </p:nvSpPr>
        <p:spPr>
          <a:xfrm>
            <a:off x="6163437" y="3137391"/>
            <a:ext cx="1800930" cy="936524"/>
          </a:xfrm>
          <a:prstGeom prst="actionButtonBlank">
            <a:avLst/>
          </a:prstGeom>
          <a:noFill/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87" name="Action Button: Custom 8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EB2D1AE-A6A4-3E49-963F-74D1FE17EED6}"/>
              </a:ext>
            </a:extLst>
          </p:cNvPr>
          <p:cNvSpPr/>
          <p:nvPr/>
        </p:nvSpPr>
        <p:spPr>
          <a:xfrm>
            <a:off x="2345758" y="3137391"/>
            <a:ext cx="1800930" cy="936524"/>
          </a:xfrm>
          <a:prstGeom prst="actionButtonBlank">
            <a:avLst/>
          </a:prstGeom>
          <a:noFill/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89" name="Action Button: Custom 8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53FB8FA-1BD0-2742-98B2-11BF0A849C9C}"/>
              </a:ext>
            </a:extLst>
          </p:cNvPr>
          <p:cNvSpPr/>
          <p:nvPr/>
        </p:nvSpPr>
        <p:spPr>
          <a:xfrm>
            <a:off x="449385" y="3137391"/>
            <a:ext cx="1800930" cy="936524"/>
          </a:xfrm>
          <a:prstGeom prst="actionButtonBlank">
            <a:avLst/>
          </a:prstGeom>
          <a:noFill/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88AADCD-3597-9C47-8234-7E98111B3984}"/>
              </a:ext>
            </a:extLst>
          </p:cNvPr>
          <p:cNvGrpSpPr/>
          <p:nvPr/>
        </p:nvGrpSpPr>
        <p:grpSpPr>
          <a:xfrm>
            <a:off x="2390574" y="2252427"/>
            <a:ext cx="1764843" cy="730318"/>
            <a:chOff x="2273212" y="2357724"/>
            <a:chExt cx="1764843" cy="73031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C1A5823-094A-7E46-9EEF-130A467DAB04}"/>
                </a:ext>
              </a:extLst>
            </p:cNvPr>
            <p:cNvSpPr/>
            <p:nvPr/>
          </p:nvSpPr>
          <p:spPr>
            <a:xfrm>
              <a:off x="2273212" y="2718710"/>
              <a:ext cx="176484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 Restrictions </a:t>
              </a:r>
              <a:b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Planned Burning</a:t>
              </a:r>
            </a:p>
          </p:txBody>
        </p:sp>
        <p:pic>
          <p:nvPicPr>
            <p:cNvPr id="99" name="Graphic 98">
              <a:extLst>
                <a:ext uri="{FF2B5EF4-FFF2-40B4-BE49-F238E27FC236}">
                  <a16:creationId xmlns:a16="http://schemas.microsoft.com/office/drawing/2014/main" id="{278531F9-9F1E-8F47-9B21-0E44FD8343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64530" y="2357724"/>
              <a:ext cx="344773" cy="34477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F61B27-AE83-184E-82B6-BD805B6504C1}"/>
              </a:ext>
            </a:extLst>
          </p:cNvPr>
          <p:cNvGrpSpPr/>
          <p:nvPr/>
        </p:nvGrpSpPr>
        <p:grpSpPr>
          <a:xfrm>
            <a:off x="473202" y="3213541"/>
            <a:ext cx="1749406" cy="789099"/>
            <a:chOff x="432071" y="3307583"/>
            <a:chExt cx="1749406" cy="7890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97F70C6-868D-F443-83AC-F9F47D392AEE}"/>
                </a:ext>
              </a:extLst>
            </p:cNvPr>
            <p:cNvSpPr/>
            <p:nvPr/>
          </p:nvSpPr>
          <p:spPr>
            <a:xfrm>
              <a:off x="432071" y="3727350"/>
              <a:ext cx="174940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Victorian Transport </a:t>
              </a:r>
              <a:b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Network</a:t>
              </a:r>
            </a:p>
          </p:txBody>
        </p:sp>
        <p:pic>
          <p:nvPicPr>
            <p:cNvPr id="101" name="Graphic 100">
              <a:extLst>
                <a:ext uri="{FF2B5EF4-FFF2-40B4-BE49-F238E27FC236}">
                  <a16:creationId xmlns:a16="http://schemas.microsoft.com/office/drawing/2014/main" id="{D9B867F8-741C-5743-8B31-6E725A7E8D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7445" y="3307583"/>
              <a:ext cx="431919" cy="53558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C4A81D-10F0-F649-A21C-CAF50EDAAB15}"/>
              </a:ext>
            </a:extLst>
          </p:cNvPr>
          <p:cNvGrpSpPr/>
          <p:nvPr/>
        </p:nvGrpSpPr>
        <p:grpSpPr>
          <a:xfrm>
            <a:off x="4279552" y="2300699"/>
            <a:ext cx="1776385" cy="573879"/>
            <a:chOff x="4098984" y="2375663"/>
            <a:chExt cx="1776385" cy="57387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CDE41A-23EB-E946-B4D8-8CF8BD6329C7}"/>
                </a:ext>
              </a:extLst>
            </p:cNvPr>
            <p:cNvSpPr/>
            <p:nvPr/>
          </p:nvSpPr>
          <p:spPr>
            <a:xfrm>
              <a:off x="4098984" y="2718710"/>
              <a:ext cx="1776385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Air Quality Forecast</a:t>
              </a:r>
            </a:p>
          </p:txBody>
        </p:sp>
        <p:pic>
          <p:nvPicPr>
            <p:cNvPr id="103" name="Graphic 102">
              <a:extLst>
                <a:ext uri="{FF2B5EF4-FFF2-40B4-BE49-F238E27FC236}">
                  <a16:creationId xmlns:a16="http://schemas.microsoft.com/office/drawing/2014/main" id="{0FAA0728-37FF-B042-B112-F49F61CD68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803014" y="2375663"/>
              <a:ext cx="379058" cy="473401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5F8209F-469D-A04C-A433-F180171C9148}"/>
              </a:ext>
            </a:extLst>
          </p:cNvPr>
          <p:cNvGrpSpPr/>
          <p:nvPr/>
        </p:nvGrpSpPr>
        <p:grpSpPr>
          <a:xfrm>
            <a:off x="6186061" y="3302317"/>
            <a:ext cx="1755682" cy="562087"/>
            <a:chOff x="6211643" y="3396095"/>
            <a:chExt cx="1755682" cy="562087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9F8C1A2-1501-FE43-AC36-3F7C8111CC6D}"/>
                </a:ext>
              </a:extLst>
            </p:cNvPr>
            <p:cNvSpPr/>
            <p:nvPr/>
          </p:nvSpPr>
          <p:spPr>
            <a:xfrm>
              <a:off x="6211643" y="3727350"/>
              <a:ext cx="175568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Sources and Quick Links</a:t>
              </a:r>
            </a:p>
          </p:txBody>
        </p:sp>
        <p:pic>
          <p:nvPicPr>
            <p:cNvPr id="105" name="Graphic 104">
              <a:extLst>
                <a:ext uri="{FF2B5EF4-FFF2-40B4-BE49-F238E27FC236}">
                  <a16:creationId xmlns:a16="http://schemas.microsoft.com/office/drawing/2014/main" id="{387A38C4-0AB0-B645-B4F7-DF763F1DB7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887579" y="3396095"/>
              <a:ext cx="308065" cy="382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466F59-E323-AA43-9755-985C3F502C15}"/>
              </a:ext>
            </a:extLst>
          </p:cNvPr>
          <p:cNvGrpSpPr/>
          <p:nvPr/>
        </p:nvGrpSpPr>
        <p:grpSpPr>
          <a:xfrm>
            <a:off x="2373384" y="3341004"/>
            <a:ext cx="1781633" cy="562087"/>
            <a:chOff x="2256421" y="3396095"/>
            <a:chExt cx="1781633" cy="56208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B07135C-6410-DA44-A36F-70F00F238880}"/>
                </a:ext>
              </a:extLst>
            </p:cNvPr>
            <p:cNvSpPr/>
            <p:nvPr/>
          </p:nvSpPr>
          <p:spPr>
            <a:xfrm>
              <a:off x="2256421" y="3727350"/>
              <a:ext cx="1781633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Media Highlights</a:t>
              </a:r>
            </a:p>
          </p:txBody>
        </p:sp>
        <p:pic>
          <p:nvPicPr>
            <p:cNvPr id="108" name="Graphic 107">
              <a:extLst>
                <a:ext uri="{FF2B5EF4-FFF2-40B4-BE49-F238E27FC236}">
                  <a16:creationId xmlns:a16="http://schemas.microsoft.com/office/drawing/2014/main" id="{A0AA22F3-52B5-984E-9FA3-EE469AD289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964530" y="3396095"/>
              <a:ext cx="322328" cy="402552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F578DEF-E7DE-4F47-AF1B-661724A33002}"/>
              </a:ext>
            </a:extLst>
          </p:cNvPr>
          <p:cNvGrpSpPr/>
          <p:nvPr/>
        </p:nvGrpSpPr>
        <p:grpSpPr>
          <a:xfrm>
            <a:off x="480818" y="2288088"/>
            <a:ext cx="1764843" cy="585796"/>
            <a:chOff x="447440" y="2363746"/>
            <a:chExt cx="1764843" cy="58579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65BAFF9-0FCA-8242-80D5-86E988545203}"/>
                </a:ext>
              </a:extLst>
            </p:cNvPr>
            <p:cNvSpPr/>
            <p:nvPr/>
          </p:nvSpPr>
          <p:spPr>
            <a:xfrm>
              <a:off x="447440" y="2718710"/>
              <a:ext cx="1764843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Hazards Summary</a:t>
              </a:r>
            </a:p>
          </p:txBody>
        </p:sp>
        <p:pic>
          <p:nvPicPr>
            <p:cNvPr id="110" name="Graphic 109">
              <a:extLst>
                <a:ext uri="{FF2B5EF4-FFF2-40B4-BE49-F238E27FC236}">
                  <a16:creationId xmlns:a16="http://schemas.microsoft.com/office/drawing/2014/main" id="{7EAFAD9A-40EB-6145-9C05-A032FBFBEB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31785" y="2363746"/>
              <a:ext cx="335489" cy="416007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2DEEF6-1667-F84C-B575-80BDE7292AA1}"/>
              </a:ext>
            </a:extLst>
          </p:cNvPr>
          <p:cNvGrpSpPr/>
          <p:nvPr/>
        </p:nvGrpSpPr>
        <p:grpSpPr>
          <a:xfrm>
            <a:off x="6155935" y="2228790"/>
            <a:ext cx="1792740" cy="748533"/>
            <a:chOff x="6201884" y="2339397"/>
            <a:chExt cx="1792740" cy="748533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FA36988-027A-1A49-9ADB-98A175EF2FF4}"/>
                </a:ext>
              </a:extLst>
            </p:cNvPr>
            <p:cNvSpPr/>
            <p:nvPr/>
          </p:nvSpPr>
          <p:spPr>
            <a:xfrm>
              <a:off x="6201884" y="2718598"/>
              <a:ext cx="179274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Upcoming Events </a:t>
              </a:r>
              <a:b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Victoria</a:t>
              </a:r>
            </a:p>
          </p:txBody>
        </p:sp>
        <p:pic>
          <p:nvPicPr>
            <p:cNvPr id="112" name="Graphic 111">
              <a:extLst>
                <a:ext uri="{FF2B5EF4-FFF2-40B4-BE49-F238E27FC236}">
                  <a16:creationId xmlns:a16="http://schemas.microsoft.com/office/drawing/2014/main" id="{DE830AC1-C59E-1E48-9D16-71737EE188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870788" y="2339397"/>
              <a:ext cx="390647" cy="473823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AA58AC8-EF88-6C43-A30B-66004367259E}"/>
              </a:ext>
            </a:extLst>
          </p:cNvPr>
          <p:cNvGrpSpPr/>
          <p:nvPr/>
        </p:nvGrpSpPr>
        <p:grpSpPr>
          <a:xfrm>
            <a:off x="4280030" y="3250363"/>
            <a:ext cx="1764844" cy="637874"/>
            <a:chOff x="6424389" y="3311778"/>
            <a:chExt cx="1856578" cy="63787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1602142-AC92-FC4A-8EC1-0C3E3596B5D0}"/>
                </a:ext>
              </a:extLst>
            </p:cNvPr>
            <p:cNvSpPr/>
            <p:nvPr/>
          </p:nvSpPr>
          <p:spPr>
            <a:xfrm>
              <a:off x="6424389" y="3580320"/>
              <a:ext cx="185657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AU" sz="9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Deployment Information</a:t>
              </a:r>
            </a:p>
            <a:p>
              <a:pPr algn="ctr"/>
              <a:r>
                <a:rPr lang="en-AU" sz="900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(only during active deployments)</a:t>
              </a:r>
            </a:p>
          </p:txBody>
        </p:sp>
        <p:pic>
          <p:nvPicPr>
            <p:cNvPr id="114" name="Graphic 113">
              <a:extLst>
                <a:ext uri="{FF2B5EF4-FFF2-40B4-BE49-F238E27FC236}">
                  <a16:creationId xmlns:a16="http://schemas.microsoft.com/office/drawing/2014/main" id="{14366278-0169-4841-82BB-512B2C8036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198645" y="3311778"/>
              <a:ext cx="342900" cy="419100"/>
            </a:xfrm>
            <a:prstGeom prst="rect">
              <a:avLst/>
            </a:prstGeom>
          </p:spPr>
        </p:pic>
      </p:grpSp>
      <p:sp>
        <p:nvSpPr>
          <p:cNvPr id="14" name="Action Button: Custom 13">
            <a:hlinkClick r:id="rId17" action="ppaction://hlinksldjump" highlightClick="1"/>
            <a:extLst>
              <a:ext uri="{FF2B5EF4-FFF2-40B4-BE49-F238E27FC236}">
                <a16:creationId xmlns:a16="http://schemas.microsoft.com/office/drawing/2014/main" id="{A8135D17-CB70-3A4D-93C5-588D43664F0A}"/>
              </a:ext>
            </a:extLst>
          </p:cNvPr>
          <p:cNvSpPr/>
          <p:nvPr/>
        </p:nvSpPr>
        <p:spPr>
          <a:xfrm>
            <a:off x="452938" y="1105196"/>
            <a:ext cx="1806162" cy="98279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8" name="Action Button: Custom 17">
            <a:hlinkClick r:id="rId18" action="ppaction://hlinksldjump" highlightClick="1"/>
            <a:extLst>
              <a:ext uri="{FF2B5EF4-FFF2-40B4-BE49-F238E27FC236}">
                <a16:creationId xmlns:a16="http://schemas.microsoft.com/office/drawing/2014/main" id="{0AD85787-5A52-704C-ACA5-B24C8CB95566}"/>
              </a:ext>
            </a:extLst>
          </p:cNvPr>
          <p:cNvSpPr/>
          <p:nvPr/>
        </p:nvSpPr>
        <p:spPr>
          <a:xfrm>
            <a:off x="2405529" y="1201746"/>
            <a:ext cx="1754271" cy="92364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9" name="Action Button: Custom 8">
            <a:hlinkClick r:id="rId19" action="ppaction://hlinksldjump" highlightClick="1"/>
            <a:extLst>
              <a:ext uri="{FF2B5EF4-FFF2-40B4-BE49-F238E27FC236}">
                <a16:creationId xmlns:a16="http://schemas.microsoft.com/office/drawing/2014/main" id="{E74BC846-0079-EE41-834B-4FB4F30BC45B}"/>
              </a:ext>
            </a:extLst>
          </p:cNvPr>
          <p:cNvSpPr/>
          <p:nvPr/>
        </p:nvSpPr>
        <p:spPr>
          <a:xfrm>
            <a:off x="4254528" y="1126074"/>
            <a:ext cx="1784875" cy="91750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6" name="Action Button: Custom 15">
            <a:hlinkClick r:id="rId25" action="ppaction://hlinksldjump" highlightClick="1"/>
            <a:extLst>
              <a:ext uri="{FF2B5EF4-FFF2-40B4-BE49-F238E27FC236}">
                <a16:creationId xmlns:a16="http://schemas.microsoft.com/office/drawing/2014/main" id="{374F701D-AEE1-384C-B4ED-580EF5D1C479}"/>
              </a:ext>
            </a:extLst>
          </p:cNvPr>
          <p:cNvSpPr/>
          <p:nvPr/>
        </p:nvSpPr>
        <p:spPr>
          <a:xfrm>
            <a:off x="6166724" y="1112575"/>
            <a:ext cx="1808432" cy="9365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9" name="Action Button: Custom 18">
            <a:hlinkClick r:id="rId21" action="ppaction://hlinksldjump" highlightClick="1"/>
            <a:extLst>
              <a:ext uri="{FF2B5EF4-FFF2-40B4-BE49-F238E27FC236}">
                <a16:creationId xmlns:a16="http://schemas.microsoft.com/office/drawing/2014/main" id="{F7CE70DC-8DC8-344A-9D28-A466E1793134}"/>
              </a:ext>
            </a:extLst>
          </p:cNvPr>
          <p:cNvSpPr/>
          <p:nvPr/>
        </p:nvSpPr>
        <p:spPr>
          <a:xfrm>
            <a:off x="461333" y="2131103"/>
            <a:ext cx="1788982" cy="9365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4" name="Action Button: Custom 23">
            <a:hlinkClick r:id="rId22" action="ppaction://hlinksldjump" highlightClick="1"/>
            <a:extLst>
              <a:ext uri="{FF2B5EF4-FFF2-40B4-BE49-F238E27FC236}">
                <a16:creationId xmlns:a16="http://schemas.microsoft.com/office/drawing/2014/main" id="{461C0832-F62E-5444-9057-1A5A305DC0F1}"/>
              </a:ext>
            </a:extLst>
          </p:cNvPr>
          <p:cNvSpPr/>
          <p:nvPr/>
        </p:nvSpPr>
        <p:spPr>
          <a:xfrm>
            <a:off x="2356348" y="2121380"/>
            <a:ext cx="1790201" cy="9365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40" name="Action Button: Custom 39">
            <a:hlinkClick r:id="rId19" action="ppaction://hlinksldjump" highlightClick="1"/>
            <a:extLst>
              <a:ext uri="{FF2B5EF4-FFF2-40B4-BE49-F238E27FC236}">
                <a16:creationId xmlns:a16="http://schemas.microsoft.com/office/drawing/2014/main" id="{3AF0005C-1508-F94D-81DC-1A09C29BAAD0}"/>
              </a:ext>
            </a:extLst>
          </p:cNvPr>
          <p:cNvSpPr/>
          <p:nvPr/>
        </p:nvSpPr>
        <p:spPr>
          <a:xfrm>
            <a:off x="4290798" y="2145151"/>
            <a:ext cx="1792201" cy="9365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41" name="Action Button: Custom 40">
            <a:hlinkClick r:id="rId23" action="ppaction://hlinksldjump" highlightClick="1"/>
            <a:extLst>
              <a:ext uri="{FF2B5EF4-FFF2-40B4-BE49-F238E27FC236}">
                <a16:creationId xmlns:a16="http://schemas.microsoft.com/office/drawing/2014/main" id="{42239BA9-C62D-6D41-AD3D-C4A6F84C59FF}"/>
              </a:ext>
            </a:extLst>
          </p:cNvPr>
          <p:cNvSpPr/>
          <p:nvPr/>
        </p:nvSpPr>
        <p:spPr>
          <a:xfrm>
            <a:off x="6163437" y="2121380"/>
            <a:ext cx="1800930" cy="9365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42" name="Action Button: Custom 41">
            <a:hlinkClick r:id="rId19" action="ppaction://hlinksldjump" highlightClick="1"/>
            <a:extLst>
              <a:ext uri="{FF2B5EF4-FFF2-40B4-BE49-F238E27FC236}">
                <a16:creationId xmlns:a16="http://schemas.microsoft.com/office/drawing/2014/main" id="{E26C817D-7582-8E48-B1A1-00A8E5C9F224}"/>
              </a:ext>
            </a:extLst>
          </p:cNvPr>
          <p:cNvSpPr/>
          <p:nvPr/>
        </p:nvSpPr>
        <p:spPr>
          <a:xfrm>
            <a:off x="456679" y="3137391"/>
            <a:ext cx="1788982" cy="9365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43" name="Action Button: Custom 42">
            <a:hlinkClick r:id="rId23" action="ppaction://hlinksldjump" highlightClick="1"/>
            <a:extLst>
              <a:ext uri="{FF2B5EF4-FFF2-40B4-BE49-F238E27FC236}">
                <a16:creationId xmlns:a16="http://schemas.microsoft.com/office/drawing/2014/main" id="{80A89BC7-7F68-6A47-AF44-837337A77FE1}"/>
              </a:ext>
            </a:extLst>
          </p:cNvPr>
          <p:cNvSpPr/>
          <p:nvPr/>
        </p:nvSpPr>
        <p:spPr>
          <a:xfrm>
            <a:off x="2356348" y="3137882"/>
            <a:ext cx="1779551" cy="9365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44" name="Action Button: Custom 43">
            <a:hlinkClick r:id="rId24" action="ppaction://hlinksldjump" highlightClick="1"/>
            <a:extLst>
              <a:ext uri="{FF2B5EF4-FFF2-40B4-BE49-F238E27FC236}">
                <a16:creationId xmlns:a16="http://schemas.microsoft.com/office/drawing/2014/main" id="{75190D66-A61D-1047-B117-B844B1A167E4}"/>
              </a:ext>
            </a:extLst>
          </p:cNvPr>
          <p:cNvSpPr/>
          <p:nvPr/>
        </p:nvSpPr>
        <p:spPr>
          <a:xfrm>
            <a:off x="6166723" y="3137391"/>
            <a:ext cx="1797643" cy="9365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78" name="Action Button: Custom 77">
            <a:hlinkClick r:id="rId22" action="ppaction://hlinksldjump" highlightClick="1"/>
            <a:extLst>
              <a:ext uri="{FF2B5EF4-FFF2-40B4-BE49-F238E27FC236}">
                <a16:creationId xmlns:a16="http://schemas.microsoft.com/office/drawing/2014/main" id="{FEB6E318-631C-A64B-A97C-B2B8DB792945}"/>
              </a:ext>
            </a:extLst>
          </p:cNvPr>
          <p:cNvSpPr/>
          <p:nvPr/>
        </p:nvSpPr>
        <p:spPr>
          <a:xfrm>
            <a:off x="4254081" y="3130179"/>
            <a:ext cx="1790793" cy="936525"/>
          </a:xfrm>
          <a:prstGeom prst="actionButtonBlank">
            <a:avLst/>
          </a:prstGeom>
          <a:noFill/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08FD752A-05BC-1642-ACA7-BDA4F466E5F5}"/>
              </a:ext>
            </a:extLst>
          </p:cNvPr>
          <p:cNvSpPr txBox="1"/>
          <p:nvPr/>
        </p:nvSpPr>
        <p:spPr>
          <a:xfrm>
            <a:off x="345410" y="401168"/>
            <a:ext cx="6602786" cy="50783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2000" b="1" u="none" noProof="0" dirty="0">
                <a:solidFill>
                  <a:srgbClr val="71C5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Operational Summary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BDFBE7-F9D3-4E4F-BA7B-AF4D0FFCE94C}"/>
              </a:ext>
            </a:extLst>
          </p:cNvPr>
          <p:cNvSpPr/>
          <p:nvPr/>
        </p:nvSpPr>
        <p:spPr>
          <a:xfrm>
            <a:off x="1404240" y="4412544"/>
            <a:ext cx="5146783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AU" sz="9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Control Centre Activation</a:t>
            </a:r>
          </a:p>
          <a:p>
            <a:pPr>
              <a:defRPr/>
            </a:pPr>
            <a:r>
              <a:rPr lang="en-AU" sz="8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1: </a:t>
            </a:r>
            <a:r>
              <a:rPr lang="en-AU" sz="8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{{scc_class1}}</a:t>
            </a:r>
          </a:p>
          <a:p>
            <a:pPr>
              <a:defRPr/>
            </a:pPr>
            <a:r>
              <a:rPr lang="en-AU" sz="800" b="1" baseline="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2: </a:t>
            </a:r>
            <a:r>
              <a:rPr lang="en-AU" sz="800" baseline="0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{{scc_class2}}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EBCCAD-78B0-FA4C-8A01-4BFADAF25225}"/>
              </a:ext>
            </a:extLst>
          </p:cNvPr>
          <p:cNvCxnSpPr>
            <a:cxnSpLocks/>
          </p:cNvCxnSpPr>
          <p:nvPr/>
        </p:nvCxnSpPr>
        <p:spPr>
          <a:xfrm>
            <a:off x="1404242" y="4449553"/>
            <a:ext cx="0" cy="43200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0955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712D01-F9E7-D652-2120-59BCF7EA0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795797"/>
              </p:ext>
            </p:extLst>
          </p:nvPr>
        </p:nvGraphicFramePr>
        <p:xfrm>
          <a:off x="35217" y="716220"/>
          <a:ext cx="9059861" cy="434676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051100">
                  <a:extLst>
                    <a:ext uri="{9D8B030D-6E8A-4147-A177-3AD203B41FA5}">
                      <a16:colId xmlns:a16="http://schemas.microsoft.com/office/drawing/2014/main" val="1893234857"/>
                    </a:ext>
                  </a:extLst>
                </a:gridCol>
                <a:gridCol w="4008761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230210">
                <a:tc gridSpan="2">
                  <a:txBody>
                    <a:bodyPr/>
                    <a:lstStyle/>
                    <a:p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Key points</a:t>
                      </a: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900" b="1" u="none" kern="1200" cap="all" baseline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2400925">
                <a:tc rowSpan="2"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Last 24 Hours</a:t>
                      </a:r>
                      <a:endParaRPr kumimoji="0" lang="en-A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7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{{kp_last24}}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AU" sz="7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AU" sz="700" kern="1200" noProof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Significant Operational Incidents</a:t>
                      </a:r>
                      <a:endParaRPr lang="en-AU" sz="800" b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700" b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{{kp_sig_incidents}}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700" kern="1200" noProof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Today</a:t>
                      </a:r>
                    </a:p>
                    <a:p>
                      <a:pPr marL="171450" lvl="0" indent="-1714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{{kp_today}}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7313" algn="l"/>
                        </a:tabLst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Outlook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7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{{kp_outlook}}</a:t>
                      </a:r>
                    </a:p>
                    <a:p>
                      <a:pPr marL="171450" marR="0" lvl="0" indent="-17145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AU" sz="7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lvl="0" indent="-171450" algn="just">
                        <a:buFont typeface="Arial" panose="020B0604020202020204" pitchFamily="34" charset="0"/>
                        <a:buChar char="•"/>
                      </a:pPr>
                      <a:endParaRPr lang="en-US" sz="7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  <a:tr h="171562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300" b="1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50" b="1" u="none" kern="1200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COMMUNITY INFORMATION &amp; WARNINGS at 0830HRS  </a:t>
                      </a:r>
                      <a:r>
                        <a:rPr lang="en-AU" sz="500" b="1" u="none" kern="1200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AU" sz="500" b="1" u="none" baseline="0" noProof="0" dirty="0">
                          <a:solidFill>
                            <a:srgbClr val="FF0000"/>
                          </a:solidFill>
                          <a:latin typeface="Arial"/>
                          <a:cs typeface="Arial"/>
                          <a:hlinkClick r:id="rId4"/>
                        </a:rPr>
                        <a:t>VicEmergency website</a:t>
                      </a:r>
                      <a:r>
                        <a:rPr lang="en-AU" sz="500" b="1" u="none" kern="1200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641402"/>
                  </a:ext>
                </a:extLst>
              </a:tr>
            </a:tbl>
          </a:graphicData>
        </a:graphic>
      </p:graphicFrame>
      <p:graphicFrame>
        <p:nvGraphicFramePr>
          <p:cNvPr id="33" name="Table 74">
            <a:extLst>
              <a:ext uri="{FF2B5EF4-FFF2-40B4-BE49-F238E27FC236}">
                <a16:creationId xmlns:a16="http://schemas.microsoft.com/office/drawing/2014/main" id="{699431B0-612A-604D-89CC-1BE66F3E4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426807"/>
              </p:ext>
            </p:extLst>
          </p:nvPr>
        </p:nvGraphicFramePr>
        <p:xfrm>
          <a:off x="5108195" y="3637657"/>
          <a:ext cx="4000588" cy="1482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47">
                  <a:extLst>
                    <a:ext uri="{9D8B030D-6E8A-4147-A177-3AD203B41FA5}">
                      <a16:colId xmlns:a16="http://schemas.microsoft.com/office/drawing/2014/main" val="42551045"/>
                    </a:ext>
                  </a:extLst>
                </a:gridCol>
                <a:gridCol w="1000147">
                  <a:extLst>
                    <a:ext uri="{9D8B030D-6E8A-4147-A177-3AD203B41FA5}">
                      <a16:colId xmlns:a16="http://schemas.microsoft.com/office/drawing/2014/main" val="2235373897"/>
                    </a:ext>
                  </a:extLst>
                </a:gridCol>
                <a:gridCol w="1000147">
                  <a:extLst>
                    <a:ext uri="{9D8B030D-6E8A-4147-A177-3AD203B41FA5}">
                      <a16:colId xmlns:a16="http://schemas.microsoft.com/office/drawing/2014/main" val="29137886"/>
                    </a:ext>
                  </a:extLst>
                </a:gridCol>
                <a:gridCol w="1000147">
                  <a:extLst>
                    <a:ext uri="{9D8B030D-6E8A-4147-A177-3AD203B41FA5}">
                      <a16:colId xmlns:a16="http://schemas.microsoft.com/office/drawing/2014/main" val="2407626496"/>
                    </a:ext>
                  </a:extLst>
                </a:gridCol>
              </a:tblGrid>
              <a:tr h="417959">
                <a:tc>
                  <a:txBody>
                    <a:bodyPr/>
                    <a:lstStyle/>
                    <a:p>
                      <a:pPr algn="ctr"/>
                      <a:r>
                        <a:rPr lang="en-AU" sz="600" b="1" i="0" kern="1200" baseline="0" noProof="0" dirty="0">
                          <a:solidFill>
                            <a:srgbClr val="1E1647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Emergency Warning</a:t>
                      </a:r>
                    </a:p>
                  </a:txBody>
                  <a:tcPr>
                    <a:solidFill>
                      <a:srgbClr val="71C5E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590" b="1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/>
                        </a:rPr>
                        <a:t>Watch &amp; Act (Warning)</a:t>
                      </a:r>
                    </a:p>
                  </a:txBody>
                  <a:tcPr>
                    <a:solidFill>
                      <a:srgbClr val="71C5E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1" noProof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Advice</a:t>
                      </a:r>
                    </a:p>
                  </a:txBody>
                  <a:tcPr>
                    <a:solidFill>
                      <a:srgbClr val="71C5E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2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1" noProof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Community Info</a:t>
                      </a:r>
                    </a:p>
                  </a:txBody>
                  <a:tcPr>
                    <a:solidFill>
                      <a:srgbClr val="71C5E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153070"/>
                  </a:ext>
                </a:extLst>
              </a:tr>
              <a:tr h="1064840">
                <a:tc>
                  <a:txBody>
                    <a:bodyPr/>
                    <a:lstStyle/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kern="1200" baseline="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baseline="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baseline="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baseline="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500" b="0" i="0" kern="1200" baseline="0" noProof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15907"/>
                  </a:ext>
                </a:extLst>
              </a:tr>
            </a:tbl>
          </a:graphicData>
        </a:graphic>
      </p:graphicFrame>
      <p:sp>
        <p:nvSpPr>
          <p:cNvPr id="14" name="Action Button: Custom 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262DC94-1314-D040-8CB9-EA37E288CDA2}"/>
              </a:ext>
            </a:extLst>
          </p:cNvPr>
          <p:cNvSpPr/>
          <p:nvPr/>
        </p:nvSpPr>
        <p:spPr>
          <a:xfrm>
            <a:off x="146964" y="185364"/>
            <a:ext cx="754602" cy="68478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: Rounded Corners 71">
            <a:extLst>
              <a:ext uri="{FF2B5EF4-FFF2-40B4-BE49-F238E27FC236}">
                <a16:creationId xmlns:a16="http://schemas.microsoft.com/office/drawing/2014/main" id="{F65CDB44-8FA1-584F-B845-1CC83F81151C}"/>
              </a:ext>
            </a:extLst>
          </p:cNvPr>
          <p:cNvSpPr/>
          <p:nvPr/>
        </p:nvSpPr>
        <p:spPr>
          <a:xfrm>
            <a:off x="5316260" y="4120692"/>
            <a:ext cx="562326" cy="196624"/>
          </a:xfrm>
          <a:prstGeom prst="roundRect">
            <a:avLst/>
          </a:prstGeom>
          <a:solidFill>
            <a:schemeClr val="bg1"/>
          </a:solidFill>
          <a:ln w="2222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{{warnings.0.0}}</a:t>
            </a:r>
          </a:p>
        </p:txBody>
      </p:sp>
      <p:sp>
        <p:nvSpPr>
          <p:cNvPr id="35" name="Rectangle: Rounded Corners 71">
            <a:extLst>
              <a:ext uri="{FF2B5EF4-FFF2-40B4-BE49-F238E27FC236}">
                <a16:creationId xmlns:a16="http://schemas.microsoft.com/office/drawing/2014/main" id="{DCC2E898-22FF-8844-9D02-E7FBC7A1BA13}"/>
              </a:ext>
            </a:extLst>
          </p:cNvPr>
          <p:cNvSpPr/>
          <p:nvPr/>
        </p:nvSpPr>
        <p:spPr>
          <a:xfrm>
            <a:off x="6341196" y="4120692"/>
            <a:ext cx="562326" cy="196624"/>
          </a:xfrm>
          <a:prstGeom prst="roundRect">
            <a:avLst/>
          </a:prstGeom>
          <a:solidFill>
            <a:schemeClr val="bg1"/>
          </a:solidFill>
          <a:ln w="2222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{{warnings.0.1}}</a:t>
            </a:r>
            <a:endParaRPr kumimoji="0" lang="en-A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Rectangle: Rounded Corners 71">
            <a:extLst>
              <a:ext uri="{FF2B5EF4-FFF2-40B4-BE49-F238E27FC236}">
                <a16:creationId xmlns:a16="http://schemas.microsoft.com/office/drawing/2014/main" id="{965E8580-17A7-D945-9DC5-26C5CE855696}"/>
              </a:ext>
            </a:extLst>
          </p:cNvPr>
          <p:cNvSpPr/>
          <p:nvPr/>
        </p:nvSpPr>
        <p:spPr>
          <a:xfrm>
            <a:off x="7358011" y="4120692"/>
            <a:ext cx="489157" cy="198590"/>
          </a:xfrm>
          <a:prstGeom prst="roundRect">
            <a:avLst/>
          </a:prstGeom>
          <a:solidFill>
            <a:schemeClr val="bg1"/>
          </a:solidFill>
          <a:ln w="2222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AU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{{warnings.0.2}}</a:t>
            </a:r>
            <a:endParaRPr lang="en-AU" sz="1000" b="1" noProof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FC973AF-5BC7-9349-8FD4-83366C536BB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318" y="3809100"/>
            <a:ext cx="175805" cy="178701"/>
          </a:xfrm>
          <a:prstGeom prst="rect">
            <a:avLst/>
          </a:prstGeom>
          <a:noFill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E8D57EB-1507-457C-9A82-81F926436C21}"/>
              </a:ext>
            </a:extLst>
          </p:cNvPr>
          <p:cNvSpPr/>
          <p:nvPr/>
        </p:nvSpPr>
        <p:spPr>
          <a:xfrm>
            <a:off x="61910" y="1018030"/>
            <a:ext cx="5020027" cy="30493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62416D-F548-4E9F-B911-A66C2E60A65A}"/>
              </a:ext>
            </a:extLst>
          </p:cNvPr>
          <p:cNvSpPr/>
          <p:nvPr/>
        </p:nvSpPr>
        <p:spPr>
          <a:xfrm>
            <a:off x="5161914" y="1018029"/>
            <a:ext cx="3922666" cy="40510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9AEBEB-3DF6-42B3-B470-4B7BBC76DAB5}"/>
              </a:ext>
            </a:extLst>
          </p:cNvPr>
          <p:cNvSpPr/>
          <p:nvPr/>
        </p:nvSpPr>
        <p:spPr>
          <a:xfrm>
            <a:off x="5170873" y="755373"/>
            <a:ext cx="3911216" cy="42991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206CC8-BCBC-F95A-4E67-4C546BC3E42D}"/>
              </a:ext>
            </a:extLst>
          </p:cNvPr>
          <p:cNvSpPr/>
          <p:nvPr/>
        </p:nvSpPr>
        <p:spPr>
          <a:xfrm>
            <a:off x="5197219" y="752247"/>
            <a:ext cx="3946781" cy="43167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C58515-BE8E-A785-5E26-A95EF5FF9799}"/>
              </a:ext>
            </a:extLst>
          </p:cNvPr>
          <p:cNvSpPr/>
          <p:nvPr/>
        </p:nvSpPr>
        <p:spPr>
          <a:xfrm>
            <a:off x="55129" y="870151"/>
            <a:ext cx="5094336" cy="4346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D01EC1D-7779-9F32-F9C2-15BB16DDEC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720" y="3809206"/>
            <a:ext cx="196624" cy="196624"/>
          </a:xfrm>
          <a:prstGeom prst="rect">
            <a:avLst/>
          </a:prstGeom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BEE23B8F-6079-73AD-4A19-B20DBD553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519" y="3809206"/>
            <a:ext cx="196624" cy="19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96FAC0F-83F2-0902-0DAF-D4D4EAFFB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111" y="3809206"/>
            <a:ext cx="196624" cy="19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: Rounded Corners 71">
            <a:extLst>
              <a:ext uri="{FF2B5EF4-FFF2-40B4-BE49-F238E27FC236}">
                <a16:creationId xmlns:a16="http://schemas.microsoft.com/office/drawing/2014/main" id="{965E8580-17A7-D945-9DC5-26C5CE855696}"/>
              </a:ext>
            </a:extLst>
          </p:cNvPr>
          <p:cNvSpPr/>
          <p:nvPr/>
        </p:nvSpPr>
        <p:spPr>
          <a:xfrm>
            <a:off x="8381643" y="4120692"/>
            <a:ext cx="489157" cy="196624"/>
          </a:xfrm>
          <a:prstGeom prst="roundRect">
            <a:avLst/>
          </a:prstGeom>
          <a:solidFill>
            <a:schemeClr val="bg1"/>
          </a:solidFill>
          <a:ln w="2222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AU" sz="1000" b="1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{{warnings.0.3}}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971FD4F-C0BB-F37F-7084-9EF7CEBAF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665668"/>
              </p:ext>
            </p:extLst>
          </p:nvPr>
        </p:nvGraphicFramePr>
        <p:xfrm>
          <a:off x="5106777" y="2592065"/>
          <a:ext cx="3992105" cy="768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072">
                  <a:extLst>
                    <a:ext uri="{9D8B030D-6E8A-4147-A177-3AD203B41FA5}">
                      <a16:colId xmlns:a16="http://schemas.microsoft.com/office/drawing/2014/main" val="698104769"/>
                    </a:ext>
                  </a:extLst>
                </a:gridCol>
                <a:gridCol w="790880">
                  <a:extLst>
                    <a:ext uri="{9D8B030D-6E8A-4147-A177-3AD203B41FA5}">
                      <a16:colId xmlns:a16="http://schemas.microsoft.com/office/drawing/2014/main" val="4029121318"/>
                    </a:ext>
                  </a:extLst>
                </a:gridCol>
                <a:gridCol w="790880">
                  <a:extLst>
                    <a:ext uri="{9D8B030D-6E8A-4147-A177-3AD203B41FA5}">
                      <a16:colId xmlns:a16="http://schemas.microsoft.com/office/drawing/2014/main" val="653727769"/>
                    </a:ext>
                  </a:extLst>
                </a:gridCol>
                <a:gridCol w="790880">
                  <a:extLst>
                    <a:ext uri="{9D8B030D-6E8A-4147-A177-3AD203B41FA5}">
                      <a16:colId xmlns:a16="http://schemas.microsoft.com/office/drawing/2014/main" val="3472784004"/>
                    </a:ext>
                  </a:extLst>
                </a:gridCol>
                <a:gridCol w="782393">
                  <a:extLst>
                    <a:ext uri="{9D8B030D-6E8A-4147-A177-3AD203B41FA5}">
                      <a16:colId xmlns:a16="http://schemas.microsoft.com/office/drawing/2014/main" val="3605435878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5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OPERATIONAL INCIDENTS 24 HOURS TO 0600HRS</a:t>
                      </a:r>
                    </a:p>
                  </a:txBody>
                  <a:tcPr anchor="ctr">
                    <a:solidFill>
                      <a:srgbClr val="C6E8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600" b="1" kern="1200" noProof="0">
                        <a:solidFill>
                          <a:srgbClr val="00206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600" b="1" kern="1200" noProof="0">
                        <a:solidFill>
                          <a:srgbClr val="00206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600" b="1" kern="1200" noProof="0">
                        <a:solidFill>
                          <a:srgbClr val="00206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600" b="1" kern="1200" noProof="0">
                        <a:solidFill>
                          <a:srgbClr val="00206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312291"/>
                  </a:ext>
                </a:extLst>
              </a:tr>
              <a:tr h="34959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1" noProof="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Going Fires (as at 0830 hrs)</a:t>
                      </a:r>
                    </a:p>
                  </a:txBody>
                  <a:tcPr anchor="ctr">
                    <a:solidFill>
                      <a:srgbClr val="C6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+mn-ea"/>
                          <a:cs typeface="Times New Roman"/>
                        </a:rPr>
                        <a:t>Total Grass / Bushfires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+mn-ea"/>
                          <a:cs typeface="Times New Roman"/>
                        </a:rPr>
                        <a:t>Total Structure Fires  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1" noProof="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Active RFAs (as at 0830 hrs)</a:t>
                      </a:r>
                    </a:p>
                  </a:txBody>
                  <a:tcPr anchor="ctr">
                    <a:solidFill>
                      <a:srgbClr val="C6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/>
                        </a:rPr>
                        <a:t>Total RFAs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230555"/>
                  </a:ext>
                </a:extLst>
              </a:tr>
              <a:tr h="16151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{{ops_incidents.0.0}}</a:t>
                      </a:r>
                      <a:endParaRPr lang="en-AU" sz="700" b="1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+mn-ea"/>
                          <a:cs typeface="Times New Roman"/>
                        </a:rPr>
                        <a:t>{{ops_incidents.0.1}}</a:t>
                      </a:r>
                      <a:endParaRPr lang="en-AU" sz="700" b="1" kern="1200" noProof="0" dirty="0">
                        <a:solidFill>
                          <a:srgbClr val="002060"/>
                        </a:solidFill>
                        <a:effectLst/>
                        <a:latin typeface="Arial"/>
                        <a:ea typeface="+mn-ea"/>
                        <a:cs typeface="Times New Roman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+mn-ea"/>
                          <a:cs typeface="Times New Roman"/>
                        </a:rPr>
                        <a:t>{{ops_incidents.0.2}}</a:t>
                      </a:r>
                      <a:endParaRPr lang="en-AU" sz="600" b="1" kern="1200" noProof="0" dirty="0">
                        <a:solidFill>
                          <a:srgbClr val="002060"/>
                        </a:solidFill>
                        <a:effectLst/>
                        <a:latin typeface="Arial"/>
                        <a:ea typeface="+mn-ea"/>
                        <a:cs typeface="Times New Roman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{{ops_incidents.0.3}}</a:t>
                      </a:r>
                      <a:endParaRPr lang="en-AU" sz="700" b="1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+mn-ea"/>
                          <a:cs typeface="Times New Roman"/>
                        </a:rPr>
                        <a:t>{{ops_incidents.0.4}}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56089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15375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tion Button: Custom 8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13218AE-A1D1-604F-92C7-0AE5526B3FD7}"/>
              </a:ext>
            </a:extLst>
          </p:cNvPr>
          <p:cNvSpPr/>
          <p:nvPr/>
        </p:nvSpPr>
        <p:spPr>
          <a:xfrm>
            <a:off x="0" y="0"/>
            <a:ext cx="670306" cy="68478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F2172F-DC75-424F-B627-70BC5C8CA7F2}"/>
              </a:ext>
            </a:extLst>
          </p:cNvPr>
          <p:cNvSpPr/>
          <p:nvPr/>
        </p:nvSpPr>
        <p:spPr>
          <a:xfrm>
            <a:off x="61910" y="1018029"/>
            <a:ext cx="9022670" cy="40510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B7554B-908B-8390-F468-F26E0CF76E3C}"/>
              </a:ext>
            </a:extLst>
          </p:cNvPr>
          <p:cNvSpPr/>
          <p:nvPr/>
        </p:nvSpPr>
        <p:spPr>
          <a:xfrm>
            <a:off x="43471" y="752247"/>
            <a:ext cx="9100529" cy="43167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62795F-DB73-A316-9372-AD053348D2F8}"/>
              </a:ext>
            </a:extLst>
          </p:cNvPr>
          <p:cNvSpPr/>
          <p:nvPr/>
        </p:nvSpPr>
        <p:spPr>
          <a:xfrm>
            <a:off x="0" y="752247"/>
            <a:ext cx="9112136" cy="4346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F179EE-D54D-4B16-DC10-4B8854C2CA6A}"/>
              </a:ext>
            </a:extLst>
          </p:cNvPr>
          <p:cNvSpPr/>
          <p:nvPr/>
        </p:nvSpPr>
        <p:spPr>
          <a:xfrm>
            <a:off x="43471" y="749964"/>
            <a:ext cx="9059548" cy="43515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E78677-66B4-A447-BF83-2C79B097D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757180"/>
              </p:ext>
            </p:extLst>
          </p:nvPr>
        </p:nvGraphicFramePr>
        <p:xfrm>
          <a:off x="24722" y="703670"/>
          <a:ext cx="9087414" cy="4395336"/>
        </p:xfrm>
        <a:graphic>
          <a:graphicData uri="http://schemas.openxmlformats.org/drawingml/2006/table">
            <a:tbl>
              <a:tblPr firstRow="1" bandRow="1">
                <a:noFill/>
                <a:effectLst/>
                <a:tableStyleId>{6E25E649-3F16-4E02-A733-19D2CDBF48F0}</a:tableStyleId>
              </a:tblPr>
              <a:tblGrid>
                <a:gridCol w="4479606">
                  <a:extLst>
                    <a:ext uri="{9D8B030D-6E8A-4147-A177-3AD203B41FA5}">
                      <a16:colId xmlns:a16="http://schemas.microsoft.com/office/drawing/2014/main" val="1893234857"/>
                    </a:ext>
                  </a:extLst>
                </a:gridCol>
                <a:gridCol w="4607808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24951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/>
                          <a:ea typeface="+mn-ea"/>
                          <a:cs typeface="Arial"/>
                        </a:rPr>
                        <a:t>BOM WARNINGS</a:t>
                      </a:r>
                      <a:r>
                        <a:rPr lang="en-AU" sz="900" b="1" u="none" kern="1200" cap="all" baseline="30000" noProof="0" dirty="0">
                          <a:solidFill>
                            <a:srgbClr val="002060"/>
                          </a:solidFill>
                          <a:latin typeface="Arial"/>
                          <a:ea typeface="+mn-ea"/>
                          <a:cs typeface="Arial"/>
                          <a:hlinkClick r:id="rId5"/>
                        </a:rPr>
                        <a:t>2</a:t>
                      </a:r>
                      <a:endParaRPr lang="en-AU" sz="900" b="1" u="none" kern="1200" cap="all" baseline="0" noProof="0" dirty="0">
                        <a:solidFill>
                          <a:srgbClr val="00206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/>
                          <a:ea typeface="+mn-ea"/>
                          <a:cs typeface="Arial"/>
                        </a:rPr>
                        <a:t>Weather for Victoria</a:t>
                      </a:r>
                      <a:r>
                        <a:rPr kumimoji="0" lang="en-AU" sz="9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6"/>
                        </a:rPr>
                        <a:t>3</a:t>
                      </a:r>
                      <a:endParaRPr kumimoji="0" lang="en-AU" sz="9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230433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{{bom_warnings}}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800" b="1" i="0" u="none" strike="noStrike" kern="120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Forecast for Victoria</a:t>
                      </a:r>
                    </a:p>
                    <a:p>
                      <a:pPr marL="0" lvl="0" indent="0" algn="l" defTabSz="6858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{{wx_forecast}}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7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800" b="1" i="0" u="none" strike="noStrike" kern="120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Weather Situation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7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{{wx_situation}}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  <a:tr h="24951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900" b="1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SCC FIRE WEATHER INTELLIGENCE BRIEFING | </a:t>
                      </a:r>
                      <a:r>
                        <a:rPr lang="en-AU" sz="900" b="1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{{fire_wx_issued}}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SCC SEVERE WEATHER INTELLIGENCE BRIEFING | </a:t>
                      </a: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{{severe_wx_issued}}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05668"/>
                  </a:ext>
                </a:extLst>
              </a:tr>
              <a:tr h="159197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500" b="1" u="none" kern="1200" cap="all" baseline="0" noProof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7"/>
                        </a:rPr>
                        <a:t>LINK: EM-COP SCC FIRE WEATHER INTELLIGENCE BRIEFING</a:t>
                      </a:r>
                      <a:endParaRPr lang="en-AU" sz="500" b="1" u="none" kern="1200" cap="all" baseline="0" noProof="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500" b="1" u="none" kern="1200" cap="all" baseline="0" noProof="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700" kern="0" noProof="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Arial"/>
                        </a:rPr>
                        <a:t>{{fire_wx_text}}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700" kern="0" noProof="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700" kern="0" noProof="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700" kern="0" noProof="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700" kern="0" noProof="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700" kern="0" noProof="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700" kern="0" noProof="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700" kern="0" noProof="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700" kern="0" noProof="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700" kern="0" noProof="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500" b="1" u="none" kern="1200" cap="all" baseline="0" noProof="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LINK: Em-COP Severe Weather INTELLIGENCE Briefing</a:t>
                      </a:r>
                      <a:endParaRPr lang="en-AU" sz="700" b="1" u="none" kern="1200" cap="all" baseline="0" noProof="0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kern="0" noProof="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Arial"/>
                        </a:rPr>
                        <a:t>{{severe_wx_text}}</a:t>
                      </a: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0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73313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C71A44B-E473-7588-5860-A83C3B01C00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85495" y="3662697"/>
            <a:ext cx="1188602" cy="1417230"/>
          </a:xfrm>
          <a:prstGeom prst="rect">
            <a:avLst/>
          </a:prstGeom>
        </p:spPr>
      </p:pic>
      <p:pic>
        <p:nvPicPr>
          <p:cNvPr id="5" name="OPS_IMG:readiness" descr="Operational Summary image slot readiness">
            <a:extLst>
              <a:ext uri="{FF2B5EF4-FFF2-40B4-BE49-F238E27FC236}">
                <a16:creationId xmlns:a16="http://schemas.microsoft.com/office/drawing/2014/main" id="{3E0B67BD-5BC7-4BE4-B6EB-DFA2375BAD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7535" y="3645209"/>
            <a:ext cx="2946562" cy="1423826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585092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E78677-66B4-A447-BF83-2C79B097D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952579"/>
              </p:ext>
            </p:extLst>
          </p:nvPr>
        </p:nvGraphicFramePr>
        <p:xfrm>
          <a:off x="41300" y="714282"/>
          <a:ext cx="9069830" cy="440521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570814">
                  <a:extLst>
                    <a:ext uri="{9D8B030D-6E8A-4147-A177-3AD203B41FA5}">
                      <a16:colId xmlns:a16="http://schemas.microsoft.com/office/drawing/2014/main" val="1893234857"/>
                    </a:ext>
                  </a:extLst>
                </a:gridCol>
                <a:gridCol w="4499016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23001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/>
                          <a:ea typeface="+mn-ea"/>
                          <a:cs typeface="Arial"/>
                        </a:rPr>
                        <a:t>PUBLIC HEALTH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TRANSPORT UPDATE</a:t>
                      </a:r>
                      <a:endParaRPr kumimoji="0" lang="en-AU" sz="9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1E1647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1935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Health Alerts and Advisories: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1E1647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4"/>
                        </a:rPr>
                        <a:t>4</a:t>
                      </a: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hlinkClick r:id="rId5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7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{{health_alerts}}</a:t>
                      </a:r>
                      <a:endParaRPr lang="en-US" sz="700" b="0" i="0" u="none" strike="noStrike" kern="1200" noProof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hlinkClick r:id="rId7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Metro Service Status: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9"/>
                        </a:rPr>
                        <a:t>17</a:t>
                      </a: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7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{{metro_status}}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V-Line Service Status: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  <a:hlinkClick r:id="rId10"/>
                        </a:rPr>
                        <a:t>21</a:t>
                      </a: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{{vline_status}}</a:t>
                      </a: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Major Airports: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1"/>
                        </a:rPr>
                        <a:t>18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2"/>
                        </a:rPr>
                        <a:t>19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3"/>
                        </a:rPr>
                        <a:t>20</a:t>
                      </a:r>
                      <a:endParaRPr kumimoji="0" lang="en-AU" sz="8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{{airports}}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Road Network: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4"/>
                        </a:rPr>
                        <a:t>22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5"/>
                        </a:rPr>
                        <a:t>23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6"/>
                        </a:rPr>
                        <a:t>24</a:t>
                      </a:r>
                      <a:endParaRPr kumimoji="0" lang="en-AU" sz="8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700" b="1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{{road_network}}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  <a:tr h="23001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u="none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THUNDERSTORM ASTHMA RISK FORECAST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1E1647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8"/>
                        </a:rPr>
                        <a:t>7</a:t>
                      </a:r>
                      <a:endParaRPr kumimoji="0" lang="en-AU" sz="800" b="0" i="0" u="sng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u="none" kern="120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THUNDERSTORM FORECAST</a:t>
                      </a:r>
                      <a:endParaRPr kumimoji="0" lang="en-AU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05668"/>
                  </a:ext>
                </a:extLst>
              </a:tr>
              <a:tr h="2009437"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700" kern="0" noProof="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Arial"/>
                        </a:rPr>
                        <a:t>{{asthma_text}}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AU" sz="70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733132"/>
                  </a:ext>
                </a:extLst>
              </a:tr>
            </a:tbl>
          </a:graphicData>
        </a:graphic>
      </p:graphicFrame>
      <p:sp>
        <p:nvSpPr>
          <p:cNvPr id="9" name="Action Button: Custom 8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13218AE-A1D1-604F-92C7-0AE5526B3FD7}"/>
              </a:ext>
            </a:extLst>
          </p:cNvPr>
          <p:cNvSpPr/>
          <p:nvPr/>
        </p:nvSpPr>
        <p:spPr>
          <a:xfrm>
            <a:off x="0" y="0"/>
            <a:ext cx="670306" cy="68478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4321BE-86D1-4478-BACE-11F72CCE92D6}"/>
              </a:ext>
            </a:extLst>
          </p:cNvPr>
          <p:cNvSpPr/>
          <p:nvPr/>
        </p:nvSpPr>
        <p:spPr>
          <a:xfrm>
            <a:off x="59420" y="923925"/>
            <a:ext cx="4220850" cy="1992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47BD3-5AF9-EDB7-A4D9-F38108EB62EE}"/>
              </a:ext>
            </a:extLst>
          </p:cNvPr>
          <p:cNvSpPr txBox="1"/>
          <p:nvPr/>
        </p:nvSpPr>
        <p:spPr>
          <a:xfrm>
            <a:off x="437606" y="2237710"/>
            <a:ext cx="3704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see the full list of current Health Alerts and Advisories </a:t>
            </a:r>
            <a:r>
              <a:rPr lang="en-A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21"/>
              </a:rPr>
              <a:t>click here</a:t>
            </a:r>
            <a:r>
              <a:rPr lang="en-A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A4BB2-D469-6154-D6DC-96C255794994}"/>
              </a:ext>
            </a:extLst>
          </p:cNvPr>
          <p:cNvSpPr txBox="1"/>
          <p:nvPr/>
        </p:nvSpPr>
        <p:spPr>
          <a:xfrm>
            <a:off x="4655860" y="3149524"/>
            <a:ext cx="215904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{{thunderstorm_text}}</a:t>
            </a:r>
            <a:endParaRPr lang="en-AU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8421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on Button: Custom 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7738F2A-6AF6-8C44-8F13-61371BA5B904}"/>
              </a:ext>
            </a:extLst>
          </p:cNvPr>
          <p:cNvSpPr/>
          <p:nvPr/>
        </p:nvSpPr>
        <p:spPr>
          <a:xfrm>
            <a:off x="0" y="0"/>
            <a:ext cx="670306" cy="68478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6CAB91-96DB-4C8C-8B4F-AF0EA65B2301}"/>
              </a:ext>
            </a:extLst>
          </p:cNvPr>
          <p:cNvSpPr/>
          <p:nvPr/>
        </p:nvSpPr>
        <p:spPr>
          <a:xfrm>
            <a:off x="61910" y="1018029"/>
            <a:ext cx="9022670" cy="40510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A35BCE-4A7A-F495-300C-DC18A0D21D00}"/>
              </a:ext>
            </a:extLst>
          </p:cNvPr>
          <p:cNvSpPr/>
          <p:nvPr/>
        </p:nvSpPr>
        <p:spPr>
          <a:xfrm>
            <a:off x="43471" y="752247"/>
            <a:ext cx="9100529" cy="43167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ADC2A7-84FF-D284-B0A0-E12F350393B4}"/>
              </a:ext>
            </a:extLst>
          </p:cNvPr>
          <p:cNvSpPr/>
          <p:nvPr/>
        </p:nvSpPr>
        <p:spPr>
          <a:xfrm>
            <a:off x="0" y="752247"/>
            <a:ext cx="9112136" cy="4346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726691-EC71-CA5D-460F-2C752166CBBC}"/>
              </a:ext>
            </a:extLst>
          </p:cNvPr>
          <p:cNvSpPr/>
          <p:nvPr/>
        </p:nvSpPr>
        <p:spPr>
          <a:xfrm>
            <a:off x="31865" y="861379"/>
            <a:ext cx="9112136" cy="42510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EB6B4E-BC36-E874-99FA-9A26B91F5E83}"/>
              </a:ext>
            </a:extLst>
          </p:cNvPr>
          <p:cNvSpPr/>
          <p:nvPr/>
        </p:nvSpPr>
        <p:spPr>
          <a:xfrm>
            <a:off x="4312009" y="3181797"/>
            <a:ext cx="4770078" cy="16395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ED9B79-954F-A348-BB06-335FA545B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825516"/>
              </p:ext>
            </p:extLst>
          </p:nvPr>
        </p:nvGraphicFramePr>
        <p:xfrm>
          <a:off x="36571" y="707262"/>
          <a:ext cx="9077306" cy="448817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233157">
                  <a:extLst>
                    <a:ext uri="{9D8B030D-6E8A-4147-A177-3AD203B41FA5}">
                      <a16:colId xmlns:a16="http://schemas.microsoft.com/office/drawing/2014/main" val="1893234857"/>
                    </a:ext>
                  </a:extLst>
                </a:gridCol>
                <a:gridCol w="4844149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22274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Operational statistics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 b="1" u="none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AMBULANCE VICTORIA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22275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Emergency Response Plan Escalations – </a:t>
                      </a: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{{av_month}}</a:t>
                      </a:r>
                      <a:endParaRPr kumimoji="0" lang="en-AU" sz="9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 1 Responses – </a:t>
                      </a: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{{av_month}}</a:t>
                      </a:r>
                      <a:endParaRPr lang="en-AU" sz="8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  <a:tr h="22274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Other hazards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05668"/>
                  </a:ext>
                </a:extLst>
              </a:tr>
              <a:tr h="17186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Recent Earthquakes (last 48hrs):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1E1647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4"/>
                        </a:rPr>
                        <a:t>8</a:t>
                      </a: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{{earthquakes}}</a:t>
                      </a: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Tsunami: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1E1647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5"/>
                        </a:rPr>
                        <a:t>9</a:t>
                      </a:r>
                      <a:endParaRPr kumimoji="0" lang="en-AU" sz="8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1E1647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{{tsunami}}</a:t>
                      </a: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Flood Scenarios: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1E1647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6"/>
                        </a:rPr>
                        <a:t>10</a:t>
                      </a: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{{flood_scenarios}}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National Terrorism Threat Level:</a:t>
                      </a:r>
                      <a:r>
                        <a:rPr kumimoji="0" lang="en-AU" sz="7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1E1647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7"/>
                        </a:rPr>
                        <a:t>11</a:t>
                      </a:r>
                      <a:endParaRPr kumimoji="0" lang="en-AU" sz="8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1E1647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{{terror_level}}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Power Disruptions:</a:t>
                      </a:r>
                      <a:r>
                        <a:rPr kumimoji="0" lang="en-AU" sz="7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8"/>
                        </a:rPr>
                        <a:t>12</a:t>
                      </a:r>
                      <a:endParaRPr kumimoji="0" lang="en-AU" sz="7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{{power_disruptions}}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733132"/>
                  </a:ext>
                </a:extLst>
              </a:tr>
            </a:tbl>
          </a:graphicData>
        </a:graphic>
      </p:graphicFrame>
      <p:pic>
        <p:nvPicPr>
          <p:cNvPr id="17" name="OPS_IMG:av_legend" descr="Operational Summary image slot av_legend">
            <a:extLst>
              <a:ext uri="{FF2B5EF4-FFF2-40B4-BE49-F238E27FC236}">
                <a16:creationId xmlns:a16="http://schemas.microsoft.com/office/drawing/2014/main" id="{E7BC29AD-2931-D856-546C-87C579AA9B1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4918" b="39030"/>
          <a:stretch>
            <a:fillRect/>
          </a:stretch>
        </p:blipFill>
        <p:spPr>
          <a:xfrm>
            <a:off x="6340730" y="3529927"/>
            <a:ext cx="2734156" cy="219370"/>
          </a:xfrm>
          <a:prstGeom prst="rect">
            <a:avLst/>
          </a:prstGeom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A05B0B50-8260-556D-CD64-36C6AE114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906606"/>
              </p:ext>
            </p:extLst>
          </p:nvPr>
        </p:nvGraphicFramePr>
        <p:xfrm>
          <a:off x="4312005" y="1140930"/>
          <a:ext cx="4762877" cy="13251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00009">
                  <a:extLst>
                    <a:ext uri="{9D8B030D-6E8A-4147-A177-3AD203B41FA5}">
                      <a16:colId xmlns:a16="http://schemas.microsoft.com/office/drawing/2014/main" val="3046132020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3939103193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53250088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3673456941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3355685076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516805892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2087060421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1182537111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2122538284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2873843413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81590828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923066113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618833293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1578257913"/>
                    </a:ext>
                  </a:extLst>
                </a:gridCol>
                <a:gridCol w="283062">
                  <a:extLst>
                    <a:ext uri="{9D8B030D-6E8A-4147-A177-3AD203B41FA5}">
                      <a16:colId xmlns:a16="http://schemas.microsoft.com/office/drawing/2014/main" val="3257877964"/>
                    </a:ext>
                  </a:extLst>
                </a:gridCol>
              </a:tblGrid>
              <a:tr h="286855">
                <a:tc>
                  <a:txBody>
                    <a:bodyPr/>
                    <a:lstStyle/>
                    <a:p>
                      <a:endParaRPr lang="en-AU" sz="500" dirty="0"/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{{av_days.0}}</a:t>
                      </a: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8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{{av_days.1}}</a:t>
                      </a: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8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{{av_days.2}}</a:t>
                      </a: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8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{{av_days.3}}</a:t>
                      </a: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8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{{av_days.4}}</a:t>
                      </a: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8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{{av_days.5}}</a:t>
                      </a: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8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{{av_days.6}}</a:t>
                      </a: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8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9070" marR="69070" marT="34535" marB="34535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2676"/>
                  </a:ext>
                </a:extLst>
              </a:tr>
              <a:tr h="249079">
                <a:tc>
                  <a:txBody>
                    <a:bodyPr/>
                    <a:lstStyle/>
                    <a:p>
                      <a:endParaRPr lang="en-AU" sz="300" b="1" dirty="0"/>
                    </a:p>
                  </a:txBody>
                  <a:tcPr marL="69070" marR="69070" marT="34535" marB="34535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69070" marR="69070" marT="34535" marB="34535" anchor="ctr"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431970"/>
                  </a:ext>
                </a:extLst>
              </a:tr>
              <a:tr h="35440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Workload and Demand – Metro Region</a:t>
                      </a: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{{av_workload.0.0}}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{{av_workload.0.1}}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{{av_workload.0.2}}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{{av_workload.0.3}}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{{av_workload.0.4}}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{{av_workload.0.5}}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{{av_workload.0.6}}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{{av_workload.0.7}}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{{av_workload.0.8}}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{{av_workload.0.9}}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{{av_workload.0.10}}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{{av_workload.0.11}}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{{av_workload.0.12}}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{{av_workload.0.13}}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677202"/>
                  </a:ext>
                </a:extLst>
              </a:tr>
              <a:tr h="35440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Workload and Demand – Hume and Loddon Mallee Regions</a:t>
                      </a: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{{av_workload.1.0}}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{{av_workload.1.1}}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{{av_workload.1.2}}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{{av_workload.1.3}}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{{av_workload.1.4}}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{{av_workload.1.5}}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{{av_workload.1.6}}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{{av_workload.1.7}}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{{av_workload.1.8}}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{{av_workload.1.9}}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{{av_workload.1.10}}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{{av_workload.1.11}}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{{av_workload.1.12}}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5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{{av_workload.1.13}}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marL="69070" marR="69070" marT="34535" marB="34535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389000"/>
                  </a:ext>
                </a:extLst>
              </a:tr>
            </a:tbl>
          </a:graphicData>
        </a:graphic>
      </p:graphicFrame>
      <p:graphicFrame>
        <p:nvGraphicFramePr>
          <p:cNvPr id="14" name="Table 3">
            <a:extLst>
              <a:ext uri="{FF2B5EF4-FFF2-40B4-BE49-F238E27FC236}">
                <a16:creationId xmlns:a16="http://schemas.microsoft.com/office/drawing/2014/main" id="{0DA7193E-E824-7E1E-F753-74C436CB7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133497"/>
              </p:ext>
            </p:extLst>
          </p:nvPr>
        </p:nvGraphicFramePr>
        <p:xfrm>
          <a:off x="4323536" y="3749297"/>
          <a:ext cx="4758551" cy="736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529">
                  <a:extLst>
                    <a:ext uri="{9D8B030D-6E8A-4147-A177-3AD203B41FA5}">
                      <a16:colId xmlns:a16="http://schemas.microsoft.com/office/drawing/2014/main" val="990317099"/>
                    </a:ext>
                  </a:extLst>
                </a:gridCol>
                <a:gridCol w="471919">
                  <a:extLst>
                    <a:ext uri="{9D8B030D-6E8A-4147-A177-3AD203B41FA5}">
                      <a16:colId xmlns:a16="http://schemas.microsoft.com/office/drawing/2014/main" val="3420585647"/>
                    </a:ext>
                  </a:extLst>
                </a:gridCol>
                <a:gridCol w="528729">
                  <a:extLst>
                    <a:ext uri="{9D8B030D-6E8A-4147-A177-3AD203B41FA5}">
                      <a16:colId xmlns:a16="http://schemas.microsoft.com/office/drawing/2014/main" val="402481083"/>
                    </a:ext>
                  </a:extLst>
                </a:gridCol>
                <a:gridCol w="528729">
                  <a:extLst>
                    <a:ext uri="{9D8B030D-6E8A-4147-A177-3AD203B41FA5}">
                      <a16:colId xmlns:a16="http://schemas.microsoft.com/office/drawing/2014/main" val="1670418995"/>
                    </a:ext>
                  </a:extLst>
                </a:gridCol>
                <a:gridCol w="528729">
                  <a:extLst>
                    <a:ext uri="{9D8B030D-6E8A-4147-A177-3AD203B41FA5}">
                      <a16:colId xmlns:a16="http://schemas.microsoft.com/office/drawing/2014/main" val="2685538011"/>
                    </a:ext>
                  </a:extLst>
                </a:gridCol>
                <a:gridCol w="528729">
                  <a:extLst>
                    <a:ext uri="{9D8B030D-6E8A-4147-A177-3AD203B41FA5}">
                      <a16:colId xmlns:a16="http://schemas.microsoft.com/office/drawing/2014/main" val="2927656694"/>
                    </a:ext>
                  </a:extLst>
                </a:gridCol>
                <a:gridCol w="528729">
                  <a:extLst>
                    <a:ext uri="{9D8B030D-6E8A-4147-A177-3AD203B41FA5}">
                      <a16:colId xmlns:a16="http://schemas.microsoft.com/office/drawing/2014/main" val="1388610721"/>
                    </a:ext>
                  </a:extLst>
                </a:gridCol>
                <a:gridCol w="528729">
                  <a:extLst>
                    <a:ext uri="{9D8B030D-6E8A-4147-A177-3AD203B41FA5}">
                      <a16:colId xmlns:a16="http://schemas.microsoft.com/office/drawing/2014/main" val="3419320818"/>
                    </a:ext>
                  </a:extLst>
                </a:gridCol>
                <a:gridCol w="528729">
                  <a:extLst>
                    <a:ext uri="{9D8B030D-6E8A-4147-A177-3AD203B41FA5}">
                      <a16:colId xmlns:a16="http://schemas.microsoft.com/office/drawing/2014/main" val="906102718"/>
                    </a:ext>
                  </a:extLst>
                </a:gridCol>
              </a:tblGrid>
              <a:tr h="292427">
                <a:tc rowSpan="3">
                  <a:txBody>
                    <a:bodyPr/>
                    <a:lstStyle/>
                    <a:p>
                      <a:pPr marL="0" algn="ctr" defTabSz="685800" rtl="0" eaLnBrk="1" fontAlgn="t" latinLnBrk="0" hangingPunct="1">
                        <a:lnSpc>
                          <a:spcPct val="150000"/>
                        </a:lnSpc>
                      </a:pPr>
                      <a:r>
                        <a:rPr lang="en-AU" sz="800" b="1" i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Code 1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8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{{code1_days.0}}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{{code1_days.1}}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{{code1_days.2}}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{{code1_days.3}}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{{code1_days.4}}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{{code1_days.5}}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{{code1_days.6}}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621252"/>
                  </a:ext>
                </a:extLst>
              </a:tr>
              <a:tr h="221814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fontAlgn="t" latinLnBrk="0" hangingPunct="1">
                        <a:lnSpc>
                          <a:spcPct val="100000"/>
                        </a:lnSpc>
                      </a:pPr>
                      <a:r>
                        <a:rPr lang="en-AU" sz="8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{{year_this}}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{{av_code1.0.0}}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{{av_code1.0.1}}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{{av_code1.0.2}}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{{av_code1.0.3}}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{{av_code1.0.4}}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{{av_code1.0.5}}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{{av_code1.0.6}}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709422"/>
                  </a:ext>
                </a:extLst>
              </a:tr>
              <a:tr h="221814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fontAlgn="t" latinLnBrk="0" hangingPunct="1">
                        <a:lnSpc>
                          <a:spcPct val="100000"/>
                        </a:lnSpc>
                      </a:pPr>
                      <a:r>
                        <a:rPr lang="en-AU" sz="8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{{year_last}}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{{av_code1.1.0}}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{{av_code1.1.1}}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{{av_code1.1.2}}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{{av_code1.1.3}}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{{av_code1.1.4}}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{{av_code1.1.5}}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{{av_code1.1.6}}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967334"/>
                  </a:ext>
                </a:extLst>
              </a:tr>
            </a:tbl>
          </a:graphicData>
        </a:graphic>
      </p:graphicFrame>
      <p:pic>
        <p:nvPicPr>
          <p:cNvPr id="2" name="OPS_IMG:ops_stats" descr="Operational Summary image slot ops_stats">
            <a:extLst>
              <a:ext uri="{FF2B5EF4-FFF2-40B4-BE49-F238E27FC236}">
                <a16:creationId xmlns:a16="http://schemas.microsoft.com/office/drawing/2014/main" id="{FAC826FD-17FF-49F5-99F3-D808F2919A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153" y="969006"/>
            <a:ext cx="3518667" cy="21878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7824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4F7242-8B8E-AC4F-84EF-699ED7069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096643"/>
              </p:ext>
            </p:extLst>
          </p:nvPr>
        </p:nvGraphicFramePr>
        <p:xfrm>
          <a:off x="43471" y="719422"/>
          <a:ext cx="9075378" cy="437901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528388">
                  <a:extLst>
                    <a:ext uri="{9D8B030D-6E8A-4147-A177-3AD203B41FA5}">
                      <a16:colId xmlns:a16="http://schemas.microsoft.com/office/drawing/2014/main" val="1893234857"/>
                    </a:ext>
                  </a:extLst>
                </a:gridCol>
                <a:gridCol w="4546990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232815">
                <a:tc>
                  <a:txBody>
                    <a:bodyPr/>
                    <a:lstStyle/>
                    <a:p>
                      <a:r>
                        <a:rPr lang="en-AU" sz="900" b="1" u="none" cap="all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 Restrictions</a:t>
                      </a:r>
                      <a:endParaRPr kumimoji="0" lang="en-AU" sz="9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1E1647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 b="1" u="none" cap="all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Planned Burning</a:t>
                      </a:r>
                      <a:r>
                        <a:rPr kumimoji="0" lang="en-AU" sz="9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4"/>
                        </a:rPr>
                        <a:t>6</a:t>
                      </a:r>
                      <a:endParaRPr kumimoji="0" lang="en-AU" sz="9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2175896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Australian Fire Danger Ratings and Total Fire Ban:</a:t>
                      </a: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{{tfb_fdr}}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For your current local information, visit </a:t>
                      </a: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5"/>
                        </a:rPr>
                        <a:t>Total Fire Bans &amp; Fire Danger Ratings </a:t>
                      </a: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CFA Fire Restrictions in Force:</a:t>
                      </a:r>
                      <a:r>
                        <a:rPr kumimoji="0" lang="en-AU" sz="7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1E1647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6"/>
                        </a:rPr>
                        <a:t>14</a:t>
                      </a: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AU" sz="900" b="1" u="none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endParaRPr lang="en-AU" sz="900" b="0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  <a:tr h="1446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u="none" kern="1200" cap="all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CURRENT INCIDENT DEPLOYMENTS (All Hazards All Emergencies)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641402"/>
                  </a:ext>
                </a:extLst>
              </a:tr>
              <a:tr h="17417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135889"/>
                  </a:ext>
                </a:extLst>
              </a:tr>
            </a:tbl>
          </a:graphicData>
        </a:graphic>
      </p:graphicFrame>
      <p:sp>
        <p:nvSpPr>
          <p:cNvPr id="14" name="Action Button: Custom 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262DC94-1314-D040-8CB9-EA37E288CDA2}"/>
              </a:ext>
            </a:extLst>
          </p:cNvPr>
          <p:cNvSpPr/>
          <p:nvPr/>
        </p:nvSpPr>
        <p:spPr>
          <a:xfrm>
            <a:off x="0" y="0"/>
            <a:ext cx="754602" cy="68478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B1C181-D31E-4271-B496-F44F52993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746458"/>
              </p:ext>
            </p:extLst>
          </p:nvPr>
        </p:nvGraphicFramePr>
        <p:xfrm>
          <a:off x="4584641" y="3405775"/>
          <a:ext cx="4517576" cy="1707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394">
                  <a:extLst>
                    <a:ext uri="{9D8B030D-6E8A-4147-A177-3AD203B41FA5}">
                      <a16:colId xmlns:a16="http://schemas.microsoft.com/office/drawing/2014/main" val="63336703"/>
                    </a:ext>
                  </a:extLst>
                </a:gridCol>
                <a:gridCol w="1129394">
                  <a:extLst>
                    <a:ext uri="{9D8B030D-6E8A-4147-A177-3AD203B41FA5}">
                      <a16:colId xmlns:a16="http://schemas.microsoft.com/office/drawing/2014/main" val="2811905434"/>
                    </a:ext>
                  </a:extLst>
                </a:gridCol>
                <a:gridCol w="1129394">
                  <a:extLst>
                    <a:ext uri="{9D8B030D-6E8A-4147-A177-3AD203B41FA5}">
                      <a16:colId xmlns:a16="http://schemas.microsoft.com/office/drawing/2014/main" val="2099158353"/>
                    </a:ext>
                  </a:extLst>
                </a:gridCol>
                <a:gridCol w="1129394">
                  <a:extLst>
                    <a:ext uri="{9D8B030D-6E8A-4147-A177-3AD203B41FA5}">
                      <a16:colId xmlns:a16="http://schemas.microsoft.com/office/drawing/2014/main" val="2239601391"/>
                    </a:ext>
                  </a:extLst>
                </a:gridCol>
              </a:tblGrid>
              <a:tr h="51990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</a:pPr>
                      <a:r>
                        <a:rPr lang="en-AU" sz="700" b="1" noProof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Aircraft</a:t>
                      </a:r>
                      <a:endParaRPr lang="en-AU" sz="700" noProof="0" dirty="0"/>
                    </a:p>
                  </a:txBody>
                  <a:tcPr>
                    <a:solidFill>
                      <a:srgbClr val="71C5E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ICCs Activated</a:t>
                      </a:r>
                      <a:endParaRPr lang="en-AU" sz="7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1C5E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Personnel deployed Interstate</a:t>
                      </a:r>
                      <a:endParaRPr lang="en-AU" sz="7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1C5E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Personnel deployed Internationally</a:t>
                      </a:r>
                      <a:endParaRPr lang="en-AU" sz="7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1C5E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026139"/>
                  </a:ext>
                </a:extLst>
              </a:tr>
              <a:tr h="1187486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Dispatched:</a:t>
                      </a:r>
                      <a:r>
                        <a:rPr lang="en-AU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AU" sz="700" b="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{{aircraft.0.0}}</a:t>
                      </a:r>
                    </a:p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</a:pPr>
                      <a:endParaRPr lang="en-AU" sz="7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Planned Dispatch: </a:t>
                      </a:r>
                      <a:r>
                        <a:rPr lang="en-AU" sz="700" b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{{aircraft.0.1}}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AU" sz="7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Standby: </a:t>
                      </a:r>
                      <a:r>
                        <a:rPr lang="en-AU" sz="700" b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{{aircraft.0.2}}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AU" sz="700" b="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{{iccs_activated}}</a:t>
                      </a:r>
                      <a:endParaRPr lang="en-AU" sz="700" b="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0" kern="1200" baseline="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{{deploy_interstate}}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574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700" b="0" kern="1200" baseline="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{{deploy_international}}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64583"/>
                  </a:ext>
                </a:extLst>
              </a:tr>
            </a:tbl>
          </a:graphicData>
        </a:graphic>
      </p:graphicFrame>
      <p:pic>
        <p:nvPicPr>
          <p:cNvPr id="16" name="Graphic 15">
            <a:extLst>
              <a:ext uri="{FF2B5EF4-FFF2-40B4-BE49-F238E27FC236}">
                <a16:creationId xmlns:a16="http://schemas.microsoft.com/office/drawing/2014/main" id="{CC14A6E8-16D1-4F07-BFDA-9145D7EDDFA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21909"/>
          <a:stretch/>
        </p:blipFill>
        <p:spPr>
          <a:xfrm>
            <a:off x="4977880" y="3608453"/>
            <a:ext cx="239028" cy="25638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AB1C5D4-01D4-47CF-9AB2-39A1E08986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38805" y="3613025"/>
            <a:ext cx="198892" cy="27319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24A1121-BB7D-46EF-8AF1-E819DD544A5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19699"/>
          <a:stretch/>
        </p:blipFill>
        <p:spPr>
          <a:xfrm>
            <a:off x="7276556" y="3656135"/>
            <a:ext cx="185391" cy="204484"/>
          </a:xfrm>
          <a:prstGeom prst="rect">
            <a:avLst/>
          </a:prstGeom>
        </p:spPr>
      </p:pic>
      <p:pic>
        <p:nvPicPr>
          <p:cNvPr id="21" name="Graphic 59">
            <a:extLst>
              <a:ext uri="{FF2B5EF4-FFF2-40B4-BE49-F238E27FC236}">
                <a16:creationId xmlns:a16="http://schemas.microsoft.com/office/drawing/2014/main" id="{BD7D0C5A-46F5-442D-B197-41567E047A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0805" y="3656135"/>
            <a:ext cx="198891" cy="2479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747" y="1248356"/>
            <a:ext cx="1513120" cy="1447083"/>
          </a:xfrm>
          <a:prstGeom prst="rect">
            <a:avLst/>
          </a:prstGeom>
          <a:ln>
            <a:noFill/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D27B183-70D7-4564-A053-654804E16925}"/>
              </a:ext>
            </a:extLst>
          </p:cNvPr>
          <p:cNvSpPr/>
          <p:nvPr/>
        </p:nvSpPr>
        <p:spPr>
          <a:xfrm>
            <a:off x="61910" y="1018029"/>
            <a:ext cx="9022670" cy="40510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0E985C-A03D-BF0C-7173-454FF0F30920}"/>
              </a:ext>
            </a:extLst>
          </p:cNvPr>
          <p:cNvSpPr/>
          <p:nvPr/>
        </p:nvSpPr>
        <p:spPr>
          <a:xfrm>
            <a:off x="43471" y="752247"/>
            <a:ext cx="9100529" cy="43167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598AE7-F3A3-B090-E08E-41A56476CAD2}"/>
              </a:ext>
            </a:extLst>
          </p:cNvPr>
          <p:cNvSpPr/>
          <p:nvPr/>
        </p:nvSpPr>
        <p:spPr>
          <a:xfrm>
            <a:off x="0" y="752247"/>
            <a:ext cx="9112136" cy="4346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C3519D-7539-71B1-28C1-8C38C7605E1E}"/>
              </a:ext>
            </a:extLst>
          </p:cNvPr>
          <p:cNvSpPr/>
          <p:nvPr/>
        </p:nvSpPr>
        <p:spPr>
          <a:xfrm>
            <a:off x="30046" y="749964"/>
            <a:ext cx="4524550" cy="43638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5E6659-3E56-C702-FBF0-501893176A65}"/>
              </a:ext>
            </a:extLst>
          </p:cNvPr>
          <p:cNvSpPr/>
          <p:nvPr/>
        </p:nvSpPr>
        <p:spPr>
          <a:xfrm>
            <a:off x="4597278" y="749964"/>
            <a:ext cx="4533296" cy="23945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3E28CD-D97A-25B2-57C0-6AAA3B350FF0}"/>
              </a:ext>
            </a:extLst>
          </p:cNvPr>
          <p:cNvSpPr/>
          <p:nvPr/>
        </p:nvSpPr>
        <p:spPr>
          <a:xfrm>
            <a:off x="4632537" y="3197366"/>
            <a:ext cx="4498037" cy="19164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graphicFrame>
        <p:nvGraphicFramePr>
          <p:cNvPr id="23" name="Table 9">
            <a:extLst>
              <a:ext uri="{FF2B5EF4-FFF2-40B4-BE49-F238E27FC236}">
                <a16:creationId xmlns:a16="http://schemas.microsoft.com/office/drawing/2014/main" id="{54CC039F-7EC6-4F8C-BDE5-016538DED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344897"/>
              </p:ext>
            </p:extLst>
          </p:nvPr>
        </p:nvGraphicFramePr>
        <p:xfrm>
          <a:off x="2717368" y="2956831"/>
          <a:ext cx="1825054" cy="214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902">
                  <a:extLst>
                    <a:ext uri="{9D8B030D-6E8A-4147-A177-3AD203B41FA5}">
                      <a16:colId xmlns:a16="http://schemas.microsoft.com/office/drawing/2014/main" val="1740521163"/>
                    </a:ext>
                  </a:extLst>
                </a:gridCol>
                <a:gridCol w="1177152">
                  <a:extLst>
                    <a:ext uri="{9D8B030D-6E8A-4147-A177-3AD203B41FA5}">
                      <a16:colId xmlns:a16="http://schemas.microsoft.com/office/drawing/2014/main" val="3945561370"/>
                    </a:ext>
                  </a:extLst>
                </a:gridCol>
              </a:tblGrid>
              <a:tr h="206713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DEECA: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1E1647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3"/>
                        </a:rPr>
                        <a:t>15</a:t>
                      </a: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7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414148"/>
                  </a:ext>
                </a:extLst>
              </a:tr>
              <a:tr h="206349">
                <a:tc>
                  <a:txBody>
                    <a:bodyPr/>
                    <a:lstStyle/>
                    <a:p>
                      <a:pPr algn="ctr"/>
                      <a:endParaRPr lang="en-AU" sz="7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700" b="1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Prohibited Period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868441"/>
                  </a:ext>
                </a:extLst>
              </a:tr>
              <a:tr h="804494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b="1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Hume 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600" noProof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{{deeca.0.0}}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819692"/>
                  </a:ext>
                </a:extLst>
              </a:tr>
              <a:tr h="459393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b="1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Gippsland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600" b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{{deeca.1.0}}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672550"/>
                  </a:ext>
                </a:extLst>
              </a:tr>
              <a:tr h="459393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b="1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Alpine Resorts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600" b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{{deeca.2.0}}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564711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52AD1344-58AD-33B9-4D42-6F24B7EABCF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694815" y="980542"/>
            <a:ext cx="1187414" cy="2129966"/>
          </a:xfrm>
          <a:prstGeom prst="rect">
            <a:avLst/>
          </a:prstGeom>
        </p:spPr>
      </p:pic>
      <p:pic>
        <p:nvPicPr>
          <p:cNvPr id="5" name="OPS_IMG:cfa_restrictions_map" descr="Operational Summary image slot cfa_restrictions_map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216" y="3248166"/>
            <a:ext cx="2467213" cy="1744104"/>
          </a:xfrm>
          <a:prstGeom prst="rect">
            <a:avLst/>
          </a:prstGeom>
        </p:spPr>
      </p:pic>
      <p:pic>
        <p:nvPicPr>
          <p:cNvPr id="22" name="OPS_IMG:fdr_map" descr="Operational Summary image slot fdr_map">
            <a:extLst>
              <a:ext uri="{FF2B5EF4-FFF2-40B4-BE49-F238E27FC236}">
                <a16:creationId xmlns:a16="http://schemas.microsoft.com/office/drawing/2014/main" id="{FF5ED47C-3796-CCFC-35B2-722C9E387704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2106377" y="1147839"/>
            <a:ext cx="2122757" cy="1530078"/>
          </a:xfrm>
          <a:prstGeom prst="rect">
            <a:avLst/>
          </a:prstGeom>
        </p:spPr>
      </p:pic>
      <p:pic>
        <p:nvPicPr>
          <p:cNvPr id="4" name="OPS_IMG:planned_burns_map" descr="Operational Summary image slot planned_burns_map">
            <a:extLst>
              <a:ext uri="{FF2B5EF4-FFF2-40B4-BE49-F238E27FC236}">
                <a16:creationId xmlns:a16="http://schemas.microsoft.com/office/drawing/2014/main" id="{A9096371-6D02-4616-A107-9D77BB7F11D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40478" y="953165"/>
            <a:ext cx="3042937" cy="21694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283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S_OPTIONAL:planned_burning">
    <p:spTree>
      <p:nvGrpSpPr>
        <p:cNvPr id="1" name="">
          <a:extLst>
            <a:ext uri="{FF2B5EF4-FFF2-40B4-BE49-F238E27FC236}">
              <a16:creationId xmlns:a16="http://schemas.microsoft.com/office/drawing/2014/main" id="{99A3B3C9-263C-93BE-DBAB-5D11081D4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E0169B-DC98-F798-6DBF-07097E6D5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958479"/>
              </p:ext>
            </p:extLst>
          </p:nvPr>
        </p:nvGraphicFramePr>
        <p:xfrm>
          <a:off x="29496" y="715378"/>
          <a:ext cx="9096935" cy="23164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431891">
                  <a:extLst>
                    <a:ext uri="{9D8B030D-6E8A-4147-A177-3AD203B41FA5}">
                      <a16:colId xmlns:a16="http://schemas.microsoft.com/office/drawing/2014/main" val="1893234857"/>
                    </a:ext>
                  </a:extLst>
                </a:gridCol>
                <a:gridCol w="4665044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11940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u="none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PLANNED BURNING SUMMARY </a:t>
                      </a:r>
                      <a:r>
                        <a:rPr lang="en-AU" sz="900" b="1" u="none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Yesterday</a:t>
                      </a:r>
                      <a:endParaRPr lang="en-AU" sz="900" b="1" u="none" baseline="3000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u="none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PLANNED BURNING SUMMARY</a:t>
                      </a:r>
                      <a:r>
                        <a:rPr lang="en-AU" sz="900" b="1" u="none" baseline="3000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AU" sz="900" b="1" u="none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  <a:endParaRPr lang="en-AU" sz="900" b="1" u="none" baseline="3000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20670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800" b="1" kern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0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200" b="0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*New</a:t>
                      </a: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Ignitions (Continuing Ignitions)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**Hectares are for new ignitions only</a:t>
                      </a:r>
                      <a:endParaRPr kumimoji="0" lang="en-AU" sz="700" b="0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</a:tbl>
          </a:graphicData>
        </a:graphic>
      </p:graphicFrame>
      <p:sp>
        <p:nvSpPr>
          <p:cNvPr id="5" name="Action Button: Custom 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E7D28B0-A4B8-D055-B269-4EC9AE4674C4}"/>
              </a:ext>
            </a:extLst>
          </p:cNvPr>
          <p:cNvSpPr/>
          <p:nvPr/>
        </p:nvSpPr>
        <p:spPr>
          <a:xfrm>
            <a:off x="0" y="0"/>
            <a:ext cx="736847" cy="68478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B8CF18-B527-7CEB-FA05-DD915DAAC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382596"/>
              </p:ext>
            </p:extLst>
          </p:nvPr>
        </p:nvGraphicFramePr>
        <p:xfrm>
          <a:off x="23532" y="3045585"/>
          <a:ext cx="9096935" cy="2118879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444947">
                  <a:extLst>
                    <a:ext uri="{9D8B030D-6E8A-4147-A177-3AD203B41FA5}">
                      <a16:colId xmlns:a16="http://schemas.microsoft.com/office/drawing/2014/main" val="1893234857"/>
                    </a:ext>
                  </a:extLst>
                </a:gridCol>
                <a:gridCol w="4651988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207636">
                <a:tc>
                  <a:txBody>
                    <a:bodyPr/>
                    <a:lstStyle/>
                    <a:p>
                      <a:r>
                        <a:rPr lang="en-AU" sz="900" b="1" u="none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PLANNED BURNING </a:t>
                      </a:r>
                      <a:r>
                        <a:rPr lang="en-AU" sz="900" b="1" u="none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SCHEDULED – Today</a:t>
                      </a:r>
                      <a:endParaRPr lang="en-AU" sz="900" b="1" u="none" baseline="3000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 b="1" u="none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PLANNED BURNING SUMMARY</a:t>
                      </a:r>
                      <a:endParaRPr lang="en-AU" sz="900" b="1" u="none" baseline="3000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1890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800" b="1" kern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900" b="1" i="0" u="none" strike="noStrike" kern="0" cap="none" spc="0" normalizeH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Situation</a:t>
                      </a:r>
                    </a:p>
                    <a:p>
                      <a:r>
                        <a:rPr kumimoji="0" lang="en-AU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{{pb_situation}}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kumimoji="0" lang="en-AU" sz="5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Risks and Issues</a:t>
                      </a:r>
                    </a:p>
                    <a:p>
                      <a:pPr marL="0" algn="just" defTabSz="685800" rtl="0" eaLnBrk="1" latinLnBrk="0" hangingPunct="1"/>
                      <a:r>
                        <a:rPr kumimoji="0" lang="en-AU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{{pb_risks}}</a:t>
                      </a:r>
                    </a:p>
                    <a:p>
                      <a:pPr marL="0" algn="just" defTabSz="685800" rtl="0" eaLnBrk="1" latinLnBrk="0" hangingPunct="1"/>
                      <a:endParaRPr kumimoji="0" lang="en-AU" sz="6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BA8C69-0C8F-63E4-6829-D721E4863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292066"/>
              </p:ext>
            </p:extLst>
          </p:nvPr>
        </p:nvGraphicFramePr>
        <p:xfrm>
          <a:off x="4763507" y="949073"/>
          <a:ext cx="4010892" cy="1208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964">
                  <a:extLst>
                    <a:ext uri="{9D8B030D-6E8A-4147-A177-3AD203B41FA5}">
                      <a16:colId xmlns:a16="http://schemas.microsoft.com/office/drawing/2014/main" val="2519858407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3659010903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708673026"/>
                    </a:ext>
                  </a:extLst>
                </a:gridCol>
              </a:tblGrid>
              <a:tr h="211543">
                <a:tc>
                  <a:txBody>
                    <a:bodyPr/>
                    <a:lstStyle/>
                    <a:p>
                      <a:endParaRPr lang="en-AU" sz="700" noProof="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FFMVic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CFA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687551"/>
                  </a:ext>
                </a:extLst>
              </a:tr>
              <a:tr h="249168">
                <a:tc>
                  <a:txBody>
                    <a:bodyPr/>
                    <a:lstStyle/>
                    <a:p>
                      <a:r>
                        <a:rPr lang="en-AU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Burns</a:t>
                      </a:r>
                      <a:r>
                        <a:rPr lang="en-AU" sz="7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Ignited</a:t>
                      </a:r>
                      <a:endParaRPr lang="en-AU" sz="7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AU" sz="700" b="0" kern="1200" baseline="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{{pb_ytd.0.0}}</a:t>
                      </a:r>
                    </a:p>
                  </a:txBody>
                  <a:tcPr marL="68580" marR="68580" marT="71755" marB="7175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AU" sz="700" b="0" kern="1200" baseline="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{{pb_ytd.0.1}}</a:t>
                      </a:r>
                    </a:p>
                  </a:txBody>
                  <a:tcPr marL="68580" marR="68580" marT="71755" marB="71755" anchor="ctr"/>
                </a:tc>
                <a:extLst>
                  <a:ext uri="{0D108BD9-81ED-4DB2-BD59-A6C34878D82A}">
                    <a16:rowId xmlns:a16="http://schemas.microsoft.com/office/drawing/2014/main" val="908013707"/>
                  </a:ext>
                </a:extLst>
              </a:tr>
              <a:tr h="249168">
                <a:tc>
                  <a:txBody>
                    <a:bodyPr/>
                    <a:lstStyle/>
                    <a:p>
                      <a:r>
                        <a:rPr lang="en-AU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Operations</a:t>
                      </a:r>
                      <a:r>
                        <a:rPr lang="en-AU" sz="7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Ignited</a:t>
                      </a:r>
                      <a:endParaRPr lang="en-AU" sz="7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AU" sz="700" b="0" kern="1200" baseline="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{{pb_ytd.1.0}}</a:t>
                      </a:r>
                    </a:p>
                  </a:txBody>
                  <a:tcPr marL="68580" marR="68580" marT="71755" marB="7175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AU" sz="700" b="0" kern="1200" baseline="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{{pb_ytd.1.1}}</a:t>
                      </a:r>
                    </a:p>
                  </a:txBody>
                  <a:tcPr marL="68580" marR="68580" marT="71755" marB="71755" anchor="ctr"/>
                </a:tc>
                <a:extLst>
                  <a:ext uri="{0D108BD9-81ED-4DB2-BD59-A6C34878D82A}">
                    <a16:rowId xmlns:a16="http://schemas.microsoft.com/office/drawing/2014/main" val="1671262043"/>
                  </a:ext>
                </a:extLst>
              </a:tr>
              <a:tr h="249168">
                <a:tc>
                  <a:txBody>
                    <a:bodyPr/>
                    <a:lstStyle/>
                    <a:p>
                      <a:r>
                        <a:rPr lang="en-AU" sz="7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Hectares Treated</a:t>
                      </a:r>
                      <a:endParaRPr lang="en-AU" sz="7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AU" sz="700" b="1" kern="1200" baseline="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{{pb_ytd.2.0}}</a:t>
                      </a:r>
                    </a:p>
                  </a:txBody>
                  <a:tcPr marL="68580" marR="68580" marT="71755" marB="7175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AU" sz="700" b="1" kern="1200" baseline="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{{pb_ytd.2.1}}</a:t>
                      </a:r>
                    </a:p>
                  </a:txBody>
                  <a:tcPr marL="68580" marR="68580" marT="71755" marB="71755" anchor="ctr"/>
                </a:tc>
                <a:extLst>
                  <a:ext uri="{0D108BD9-81ED-4DB2-BD59-A6C34878D82A}">
                    <a16:rowId xmlns:a16="http://schemas.microsoft.com/office/drawing/2014/main" val="1007256953"/>
                  </a:ext>
                </a:extLst>
              </a:tr>
              <a:tr h="249168">
                <a:tc>
                  <a:txBody>
                    <a:bodyPr/>
                    <a:lstStyle/>
                    <a:p>
                      <a:r>
                        <a:rPr lang="en-AU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Burns</a:t>
                      </a:r>
                      <a:r>
                        <a:rPr lang="en-AU" sz="7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Ignited</a:t>
                      </a:r>
                      <a:endParaRPr lang="en-AU" sz="7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en-AU" sz="7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{{pb_ytd.3.0}}</a:t>
                      </a:r>
                      <a:endParaRPr lang="en-AU" sz="700" b="0" noProof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71755" marB="7175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AU" sz="700" b="1" kern="1200" baseline="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{{pb_ytd.3.1}}</a:t>
                      </a:r>
                    </a:p>
                  </a:txBody>
                  <a:tcPr marL="68580" marR="68580" marT="71755" marB="71755" anchor="ctr"/>
                </a:tc>
                <a:extLst>
                  <a:ext uri="{0D108BD9-81ED-4DB2-BD59-A6C34878D82A}">
                    <a16:rowId xmlns:a16="http://schemas.microsoft.com/office/drawing/2014/main" val="3414521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90BFCA-E1D7-14A9-5CDC-7D554825B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916785"/>
              </p:ext>
            </p:extLst>
          </p:nvPr>
        </p:nvGraphicFramePr>
        <p:xfrm>
          <a:off x="85589" y="3276879"/>
          <a:ext cx="4294907" cy="1822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887">
                  <a:extLst>
                    <a:ext uri="{9D8B030D-6E8A-4147-A177-3AD203B41FA5}">
                      <a16:colId xmlns:a16="http://schemas.microsoft.com/office/drawing/2014/main" val="3067327120"/>
                    </a:ext>
                  </a:extLst>
                </a:gridCol>
                <a:gridCol w="952205">
                  <a:extLst>
                    <a:ext uri="{9D8B030D-6E8A-4147-A177-3AD203B41FA5}">
                      <a16:colId xmlns:a16="http://schemas.microsoft.com/office/drawing/2014/main" val="3460215864"/>
                    </a:ext>
                  </a:extLst>
                </a:gridCol>
                <a:gridCol w="600363">
                  <a:extLst>
                    <a:ext uri="{9D8B030D-6E8A-4147-A177-3AD203B41FA5}">
                      <a16:colId xmlns:a16="http://schemas.microsoft.com/office/drawing/2014/main" val="867491423"/>
                    </a:ext>
                  </a:extLst>
                </a:gridCol>
                <a:gridCol w="715817">
                  <a:extLst>
                    <a:ext uri="{9D8B030D-6E8A-4147-A177-3AD203B41FA5}">
                      <a16:colId xmlns:a16="http://schemas.microsoft.com/office/drawing/2014/main" val="605508368"/>
                    </a:ext>
                  </a:extLst>
                </a:gridCol>
                <a:gridCol w="846666">
                  <a:extLst>
                    <a:ext uri="{9D8B030D-6E8A-4147-A177-3AD203B41FA5}">
                      <a16:colId xmlns:a16="http://schemas.microsoft.com/office/drawing/2014/main" val="2705562903"/>
                    </a:ext>
                  </a:extLst>
                </a:gridCol>
                <a:gridCol w="584969">
                  <a:extLst>
                    <a:ext uri="{9D8B030D-6E8A-4147-A177-3AD203B41FA5}">
                      <a16:colId xmlns:a16="http://schemas.microsoft.com/office/drawing/2014/main" val="1223033207"/>
                    </a:ext>
                  </a:extLst>
                </a:gridCol>
              </a:tblGrid>
              <a:tr h="174330">
                <a:tc gridSpan="3"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AU" sz="700" b="1" kern="1200" noProof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FFMVic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sz="60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sz="60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AU" sz="700" b="1" kern="1200" noProof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CFA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sz="600"/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sz="60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901995"/>
                  </a:ext>
                </a:extLst>
              </a:tr>
              <a:tr h="237757">
                <a:tc>
                  <a:txBody>
                    <a:bodyPr/>
                    <a:lstStyle/>
                    <a:p>
                      <a:pPr algn="ctr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Number (Cont.)*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Ha.**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Number (Cont.)*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Ha.**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457968"/>
                  </a:ext>
                </a:extLst>
              </a:tr>
              <a:tr h="17433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BSW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{{pb_today.0.0}}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{{pb_today.0.1}}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South 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{{pb_today.0.2}}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{{pb_today.0.3}}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8709621"/>
                  </a:ext>
                </a:extLst>
              </a:tr>
              <a:tr h="17433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{{pb_today.1.0}}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{{pb_today.1.1}}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{{pb_today.1.2}}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{{pb_today.1.3}}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06530606"/>
                  </a:ext>
                </a:extLst>
              </a:tr>
              <a:tr h="17433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LM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{{pb_today.2.0}}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{{pb_today.2.1}}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North 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{{pb_today.2.2}}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{{pb_today.2.3}}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5282941"/>
                  </a:ext>
                </a:extLst>
              </a:tr>
              <a:tr h="17433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{{pb_today.3.0}}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{{pb_today.3.1}}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North 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{{pb_today.3.2}}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{{pb_today.3.3}}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6917251"/>
                  </a:ext>
                </a:extLst>
              </a:tr>
              <a:tr h="17433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{{pb_today.4.0}}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{{pb_today.4.1}}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South 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{{pb_today.4.2}}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{{pb_today.4.3}}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6879134"/>
                  </a:ext>
                </a:extLst>
              </a:tr>
              <a:tr h="17433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PPR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{{pb_today.5.0}}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{{pb_today.5.1}}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en-AU" sz="70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{{pb_today.5.2}}</a:t>
                      </a:r>
                      <a:endParaRPr lang="en-AU" sz="70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{{pb_today.5.3}}</a:t>
                      </a:r>
                      <a:endParaRPr lang="en-AU" sz="70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615002"/>
                  </a:ext>
                </a:extLst>
              </a:tr>
              <a:tr h="17433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{{pb_today.6.0}}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{{pb_today.6.1}}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{{pb_today.6.2}}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{{pb_today.6.3}}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748312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E85322-828C-87D2-95D3-C63B1D813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07559"/>
              </p:ext>
            </p:extLst>
          </p:nvPr>
        </p:nvGraphicFramePr>
        <p:xfrm>
          <a:off x="85588" y="944095"/>
          <a:ext cx="4294907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18">
                  <a:extLst>
                    <a:ext uri="{9D8B030D-6E8A-4147-A177-3AD203B41FA5}">
                      <a16:colId xmlns:a16="http://schemas.microsoft.com/office/drawing/2014/main" val="3354906590"/>
                    </a:ext>
                  </a:extLst>
                </a:gridCol>
                <a:gridCol w="846665">
                  <a:extLst>
                    <a:ext uri="{9D8B030D-6E8A-4147-A177-3AD203B41FA5}">
                      <a16:colId xmlns:a16="http://schemas.microsoft.com/office/drawing/2014/main" val="1256920935"/>
                    </a:ext>
                  </a:extLst>
                </a:gridCol>
                <a:gridCol w="584970">
                  <a:extLst>
                    <a:ext uri="{9D8B030D-6E8A-4147-A177-3AD203B41FA5}">
                      <a16:colId xmlns:a16="http://schemas.microsoft.com/office/drawing/2014/main" val="200365665"/>
                    </a:ext>
                  </a:extLst>
                </a:gridCol>
                <a:gridCol w="715818">
                  <a:extLst>
                    <a:ext uri="{9D8B030D-6E8A-4147-A177-3AD203B41FA5}">
                      <a16:colId xmlns:a16="http://schemas.microsoft.com/office/drawing/2014/main" val="3585902610"/>
                    </a:ext>
                  </a:extLst>
                </a:gridCol>
                <a:gridCol w="862061">
                  <a:extLst>
                    <a:ext uri="{9D8B030D-6E8A-4147-A177-3AD203B41FA5}">
                      <a16:colId xmlns:a16="http://schemas.microsoft.com/office/drawing/2014/main" val="3167693972"/>
                    </a:ext>
                  </a:extLst>
                </a:gridCol>
                <a:gridCol w="569575">
                  <a:extLst>
                    <a:ext uri="{9D8B030D-6E8A-4147-A177-3AD203B41FA5}">
                      <a16:colId xmlns:a16="http://schemas.microsoft.com/office/drawing/2014/main" val="1884783385"/>
                    </a:ext>
                  </a:extLst>
                </a:gridCol>
              </a:tblGrid>
              <a:tr h="123216">
                <a:tc gridSpan="3"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AU" sz="700" b="1" kern="1200" noProof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FFMVic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sz="6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AU" sz="700" b="1" kern="1200" noProof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CFA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sz="6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556402"/>
                  </a:ext>
                </a:extLst>
              </a:tr>
              <a:tr h="175929">
                <a:tc>
                  <a:txBody>
                    <a:bodyPr/>
                    <a:lstStyle/>
                    <a:p>
                      <a:pPr algn="ctr"/>
                      <a:r>
                        <a:rPr lang="en-AU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Number (Cont.)*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Ha.**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Number (Cont.)*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Ha.**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54239"/>
                  </a:ext>
                </a:extLst>
              </a:tr>
              <a:tr h="13310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BSW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{{pb_yday.0.0}}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{{pb_yday.0.1}}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South 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{{pb_yday.0.2}}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{{pb_yday.0.3}}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4334254"/>
                  </a:ext>
                </a:extLst>
              </a:tr>
              <a:tr h="123216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{{pb_yday.1.0}}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{{pb_yday.1.1}}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{{pb_yday.1.2}}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{{pb_yday.1.3}}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853979"/>
                  </a:ext>
                </a:extLst>
              </a:tr>
              <a:tr h="146346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LM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{{pb_yday.2.0}}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{{pb_yday.2.1}}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North 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{{pb_yday.2.2}}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{{pb_yday.2.3}}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4367212"/>
                  </a:ext>
                </a:extLst>
              </a:tr>
              <a:tr h="123216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{{pb_yday.3.0}}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{{pb_yday.3.1}}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North 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{{pb_yday.3.2}}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{{pb_yday.3.3}}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7248306"/>
                  </a:ext>
                </a:extLst>
              </a:tr>
              <a:tr h="123216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{{pb_yday.4.0}}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{{pb_yday.4.1}}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South 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{{pb_yday.4.2}}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{{pb_yday.4.3}}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1265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PPR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{{pb_yday.5.0}}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{{pb_yday.5.1}}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en-AU" sz="70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{{pb_yday.5.2}}</a:t>
                      </a:r>
                      <a:endParaRPr lang="en-AU" sz="70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AU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{{pb_yday.5.3}}</a:t>
                      </a:r>
                      <a:endParaRPr lang="en-AU" sz="70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71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{{pb_yday.6.0}}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{{pb_yday.6.1}}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AU" sz="7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{{pb_yday.6.2}}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AU" sz="7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{{pb_yday.6.3}}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056893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1D7A788-83FA-2E9C-C6CC-65916492D89A}"/>
              </a:ext>
            </a:extLst>
          </p:cNvPr>
          <p:cNvSpPr txBox="1"/>
          <p:nvPr/>
        </p:nvSpPr>
        <p:spPr>
          <a:xfrm>
            <a:off x="5241892" y="2214011"/>
            <a:ext cx="3054122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550" i="1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en-AU" sz="550" b="1" i="1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Explainer</a:t>
            </a:r>
            <a:r>
              <a:rPr lang="en-AU" sz="550" i="1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There may be a several day delay in the reporting of Treated Area figures. </a:t>
            </a:r>
          </a:p>
        </p:txBody>
      </p:sp>
      <p:pic>
        <p:nvPicPr>
          <p:cNvPr id="11" name="OPS_IMG:pb_progress" descr="Operational Summary image slot pb_progress">
            <a:extLst>
              <a:ext uri="{FF2B5EF4-FFF2-40B4-BE49-F238E27FC236}">
                <a16:creationId xmlns:a16="http://schemas.microsoft.com/office/drawing/2014/main" id="{D9E4939F-D50C-6CE9-D8BD-E8FD46C1D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697" y="2377694"/>
            <a:ext cx="3945702" cy="5452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0294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A1D5DC9-7043-CB6D-33FB-6D80832B1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671227"/>
              </p:ext>
            </p:extLst>
          </p:nvPr>
        </p:nvGraphicFramePr>
        <p:xfrm>
          <a:off x="0" y="700815"/>
          <a:ext cx="9103056" cy="4633182"/>
        </p:xfrm>
        <a:graphic>
          <a:graphicData uri="http://schemas.openxmlformats.org/drawingml/2006/table">
            <a:tbl>
              <a:tblPr firstRow="1" bandRow="1">
                <a:effectLst/>
                <a:tableStyleId>{6E25E649-3F16-4E02-A733-19D2CDBF48F0}</a:tableStyleId>
              </a:tblPr>
              <a:tblGrid>
                <a:gridCol w="4767065">
                  <a:extLst>
                    <a:ext uri="{9D8B030D-6E8A-4147-A177-3AD203B41FA5}">
                      <a16:colId xmlns:a16="http://schemas.microsoft.com/office/drawing/2014/main" val="1893234857"/>
                    </a:ext>
                  </a:extLst>
                </a:gridCol>
                <a:gridCol w="4335991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251571">
                <a:tc>
                  <a:txBody>
                    <a:bodyPr/>
                    <a:lstStyle/>
                    <a:p>
                      <a:pPr algn="just"/>
                      <a:r>
                        <a:rPr lang="en-AU" sz="900" b="1" u="none" cap="all" baseline="0" noProof="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Media Highlights</a:t>
                      </a:r>
                      <a:endParaRPr lang="en-AU" sz="900" b="1" u="none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SOCIAL MEDIA HIGHLIGHTS</a:t>
                      </a:r>
                      <a:r>
                        <a:rPr kumimoji="0" lang="en-AU" sz="8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</a:t>
                      </a:r>
                      <a:endParaRPr kumimoji="0" lang="en-AU" sz="9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3525286"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{{media}}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b="0" noProof="0" dirty="0">
                        <a:highlight>
                          <a:srgbClr val="FFFF00"/>
                        </a:highlight>
                      </a:endParaRPr>
                    </a:p>
                  </a:txBody>
                  <a:tcPr marL="0" marR="0" marT="85725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  <a:tr h="251571">
                <a:tc>
                  <a:txBody>
                    <a:bodyPr/>
                    <a:lstStyle/>
                    <a:p>
                      <a:pPr algn="just"/>
                      <a:r>
                        <a:rPr lang="en-AU" sz="900" b="1" u="none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UPCOMING </a:t>
                      </a:r>
                      <a:r>
                        <a:rPr lang="en-AU" sz="900" b="1" u="none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EVENTS IN VICTORIA</a:t>
                      </a:r>
                      <a:endParaRPr lang="en-AU" sz="900" b="1" u="none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8F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just"/>
                      <a:endParaRPr lang="en-AU"/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641402"/>
                  </a:ext>
                </a:extLst>
              </a:tr>
              <a:tr h="374716"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AU" sz="7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{{events}}</a:t>
                      </a:r>
                      <a:endParaRPr kumimoji="0" lang="en-AU" sz="700" b="1" i="0" u="none" strike="noStrike" kern="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AU" sz="700" b="0" i="0" u="none" strike="noStrike" kern="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AU" sz="700" b="0" i="0" u="none" strike="noStrike" kern="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</a:pPr>
                      <a:endParaRPr lang="en-AU" sz="1000" b="1">
                        <a:solidFill>
                          <a:srgbClr val="325267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1450" marR="171450" marT="0" marB="85725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135889"/>
                  </a:ext>
                </a:extLst>
              </a:tr>
            </a:tbl>
          </a:graphicData>
        </a:graphic>
      </p:graphicFrame>
      <p:sp>
        <p:nvSpPr>
          <p:cNvPr id="6" name="Action Button: Custom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262DC94-1314-D040-8CB9-EA37E288CDA2}"/>
              </a:ext>
            </a:extLst>
          </p:cNvPr>
          <p:cNvSpPr/>
          <p:nvPr/>
        </p:nvSpPr>
        <p:spPr>
          <a:xfrm>
            <a:off x="0" y="0"/>
            <a:ext cx="754602" cy="68478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pic>
        <p:nvPicPr>
          <p:cNvPr id="2" name="OPS_IMG:social_1" descr="Operational Summary image slot social_1">
            <a:extLst>
              <a:ext uri="{FF2B5EF4-FFF2-40B4-BE49-F238E27FC236}">
                <a16:creationId xmlns:a16="http://schemas.microsoft.com/office/drawing/2014/main" id="{267BD464-75CA-4DCD-A2C0-B73A037451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3668" y="987287"/>
            <a:ext cx="2186414" cy="2179983"/>
          </a:xfrm>
          <a:prstGeom prst="rect">
            <a:avLst/>
          </a:prstGeom>
        </p:spPr>
      </p:pic>
      <p:pic>
        <p:nvPicPr>
          <p:cNvPr id="3" name="OPS_IMG:social_2" descr="Operational Summary image slot social_2">
            <a:extLst>
              <a:ext uri="{FF2B5EF4-FFF2-40B4-BE49-F238E27FC236}">
                <a16:creationId xmlns:a16="http://schemas.microsoft.com/office/drawing/2014/main" id="{DD7BD046-2F18-48FA-B56A-AFF08F332F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082" y="987287"/>
            <a:ext cx="2112974" cy="2088261"/>
          </a:xfrm>
          <a:prstGeom prst="rect">
            <a:avLst/>
          </a:prstGeom>
        </p:spPr>
      </p:pic>
      <p:pic>
        <p:nvPicPr>
          <p:cNvPr id="7" name="OPS_IMG:social_3" descr="Operational Summary image slot social_3">
            <a:extLst>
              <a:ext uri="{FF2B5EF4-FFF2-40B4-BE49-F238E27FC236}">
                <a16:creationId xmlns:a16="http://schemas.microsoft.com/office/drawing/2014/main" id="{D0CC7E45-FCA6-47CE-B89B-81D4A9030B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3668" y="3183298"/>
            <a:ext cx="2286902" cy="1960202"/>
          </a:xfrm>
          <a:prstGeom prst="rect">
            <a:avLst/>
          </a:prstGeom>
        </p:spPr>
      </p:pic>
      <p:pic>
        <p:nvPicPr>
          <p:cNvPr id="11" name="OPS_IMG:social_4" descr="Operational Summary image slot social_4">
            <a:extLst>
              <a:ext uri="{FF2B5EF4-FFF2-40B4-BE49-F238E27FC236}">
                <a16:creationId xmlns:a16="http://schemas.microsoft.com/office/drawing/2014/main" id="{B52719AD-46D1-4977-A426-C9FC00125F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0569" y="2788215"/>
            <a:ext cx="2012487" cy="23462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9148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8DEC11-294F-4BDD-9371-E6F45FCEB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421359"/>
              </p:ext>
            </p:extLst>
          </p:nvPr>
        </p:nvGraphicFramePr>
        <p:xfrm>
          <a:off x="12970" y="707626"/>
          <a:ext cx="9117604" cy="443702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585156">
                  <a:extLst>
                    <a:ext uri="{9D8B030D-6E8A-4147-A177-3AD203B41FA5}">
                      <a16:colId xmlns:a16="http://schemas.microsoft.com/office/drawing/2014/main" val="1893234857"/>
                    </a:ext>
                  </a:extLst>
                </a:gridCol>
                <a:gridCol w="4532448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240103">
                <a:tc>
                  <a:txBody>
                    <a:bodyPr/>
                    <a:lstStyle/>
                    <a:p>
                      <a:r>
                        <a:rPr lang="en-AU" sz="900" b="1" u="none" cap="all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 Control Centre </a:t>
                      </a:r>
                      <a:endParaRPr kumimoji="0" lang="en-AU" sz="9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1E1647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 Control Centres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118542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SCC Activation Levels:</a:t>
                      </a:r>
                      <a:r>
                        <a:rPr kumimoji="0" lang="en-AU" sz="7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1E1647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"/>
                        </a:rPr>
                        <a:t>26</a:t>
                      </a:r>
                      <a:endParaRPr kumimoji="0" lang="en-AU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AU" sz="9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Current State Response Controller: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{{src_current}}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Incoming State Response Controller (</a:t>
                      </a: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{{src_incoming_date}}</a:t>
                      </a: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{{src_incoming}}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EMV Duty Commissioner: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{{emv_duty_commissioner}}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  <a:tr h="2561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Incident Control Centres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641402"/>
                  </a:ext>
                </a:extLst>
              </a:tr>
              <a:tr h="275531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  <a:p>
                      <a:endParaRPr lang="en-AU" noProof="0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135889"/>
                  </a:ext>
                </a:extLst>
              </a:tr>
            </a:tbl>
          </a:graphicData>
        </a:graphic>
      </p:graphicFrame>
      <p:graphicFrame>
        <p:nvGraphicFramePr>
          <p:cNvPr id="6" name="OPS_GRID:icc">
            <a:extLst>
              <a:ext uri="{FF2B5EF4-FFF2-40B4-BE49-F238E27FC236}">
                <a16:creationId xmlns:a16="http://schemas.microsoft.com/office/drawing/2014/main" id="{85C93F5E-D1AC-252F-8DF3-B5895F4F3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364349"/>
              </p:ext>
            </p:extLst>
          </p:nvPr>
        </p:nvGraphicFramePr>
        <p:xfrm>
          <a:off x="4641890" y="2469859"/>
          <a:ext cx="4421151" cy="228991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84033">
                  <a:extLst>
                    <a:ext uri="{9D8B030D-6E8A-4147-A177-3AD203B41FA5}">
                      <a16:colId xmlns:a16="http://schemas.microsoft.com/office/drawing/2014/main" val="3629109051"/>
                    </a:ext>
                  </a:extLst>
                </a:gridCol>
                <a:gridCol w="884033">
                  <a:extLst>
                    <a:ext uri="{9D8B030D-6E8A-4147-A177-3AD203B41FA5}">
                      <a16:colId xmlns:a16="http://schemas.microsoft.com/office/drawing/2014/main" val="3958202558"/>
                    </a:ext>
                  </a:extLst>
                </a:gridCol>
                <a:gridCol w="884033">
                  <a:extLst>
                    <a:ext uri="{9D8B030D-6E8A-4147-A177-3AD203B41FA5}">
                      <a16:colId xmlns:a16="http://schemas.microsoft.com/office/drawing/2014/main" val="2535916831"/>
                    </a:ext>
                  </a:extLst>
                </a:gridCol>
                <a:gridCol w="884033">
                  <a:extLst>
                    <a:ext uri="{9D8B030D-6E8A-4147-A177-3AD203B41FA5}">
                      <a16:colId xmlns:a16="http://schemas.microsoft.com/office/drawing/2014/main" val="1093476822"/>
                    </a:ext>
                  </a:extLst>
                </a:gridCol>
                <a:gridCol w="885019">
                  <a:extLst>
                    <a:ext uri="{9D8B030D-6E8A-4147-A177-3AD203B41FA5}">
                      <a16:colId xmlns:a16="http://schemas.microsoft.com/office/drawing/2014/main" val="1179582052"/>
                    </a:ext>
                  </a:extLst>
                </a:gridCol>
              </a:tblGrid>
              <a:tr h="327131">
                <a:tc>
                  <a:txBody>
                    <a:bodyPr/>
                    <a:lstStyle/>
                    <a:p>
                      <a:pPr algn="ctr"/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Alexandra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Ararat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Bairnsdale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Ballarat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Benalla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914549"/>
                  </a:ext>
                </a:extLst>
              </a:tr>
              <a:tr h="32713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Epsom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Bendoc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Colac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Corryong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Dandenong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462192"/>
                  </a:ext>
                </a:extLst>
              </a:tr>
              <a:tr h="327131">
                <a:tc>
                  <a:txBody>
                    <a:bodyPr/>
                    <a:lstStyle/>
                    <a:p>
                      <a:pPr algn="ctr"/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Erica</a:t>
                      </a:r>
                      <a:endParaRPr lang="en-AU" sz="700" b="1" noProof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Ferntree Gully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Geelong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Gisborne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Heyfield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187965"/>
                  </a:ext>
                </a:extLst>
              </a:tr>
              <a:tr h="32713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Heywood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Horsham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Mansfield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Mildura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Noojee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755909"/>
                  </a:ext>
                </a:extLst>
              </a:tr>
              <a:tr h="32713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Orbost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Ovens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Seymour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Shepparton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Sunshine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690049"/>
                  </a:ext>
                </a:extLst>
              </a:tr>
              <a:tr h="32713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Swifts Creek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Tallangatta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Warragul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Wangaratta</a:t>
                      </a:r>
                      <a:endParaRPr lang="en-AU" sz="700" b="1" noProof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Warrnambool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055689"/>
                  </a:ext>
                </a:extLst>
              </a:tr>
              <a:tr h="32713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Wodonga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Woori Yallock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1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1" noProof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637327"/>
                  </a:ext>
                </a:extLst>
              </a:tr>
            </a:tbl>
          </a:graphicData>
        </a:graphic>
      </p:graphicFrame>
      <p:graphicFrame>
        <p:nvGraphicFramePr>
          <p:cNvPr id="7" name="OPS_GRID:rcc">
            <a:extLst>
              <a:ext uri="{FF2B5EF4-FFF2-40B4-BE49-F238E27FC236}">
                <a16:creationId xmlns:a16="http://schemas.microsoft.com/office/drawing/2014/main" id="{20875D1B-DCA9-C995-1C9B-FB3EF01A5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405088"/>
              </p:ext>
            </p:extLst>
          </p:nvPr>
        </p:nvGraphicFramePr>
        <p:xfrm>
          <a:off x="4641890" y="1058558"/>
          <a:ext cx="4412560" cy="9561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03140">
                  <a:extLst>
                    <a:ext uri="{9D8B030D-6E8A-4147-A177-3AD203B41FA5}">
                      <a16:colId xmlns:a16="http://schemas.microsoft.com/office/drawing/2014/main" val="3629109051"/>
                    </a:ext>
                  </a:extLst>
                </a:gridCol>
                <a:gridCol w="1103140">
                  <a:extLst>
                    <a:ext uri="{9D8B030D-6E8A-4147-A177-3AD203B41FA5}">
                      <a16:colId xmlns:a16="http://schemas.microsoft.com/office/drawing/2014/main" val="3958202558"/>
                    </a:ext>
                  </a:extLst>
                </a:gridCol>
                <a:gridCol w="1103140">
                  <a:extLst>
                    <a:ext uri="{9D8B030D-6E8A-4147-A177-3AD203B41FA5}">
                      <a16:colId xmlns:a16="http://schemas.microsoft.com/office/drawing/2014/main" val="2535916831"/>
                    </a:ext>
                  </a:extLst>
                </a:gridCol>
                <a:gridCol w="1103140">
                  <a:extLst>
                    <a:ext uri="{9D8B030D-6E8A-4147-A177-3AD203B41FA5}">
                      <a16:colId xmlns:a16="http://schemas.microsoft.com/office/drawing/2014/main" val="2416639376"/>
                    </a:ext>
                  </a:extLst>
                </a:gridCol>
              </a:tblGrid>
              <a:tr h="478060">
                <a:tc>
                  <a:txBody>
                    <a:bodyPr/>
                    <a:lstStyle/>
                    <a:p>
                      <a:pPr algn="ctr"/>
                      <a:r>
                        <a:rPr lang="en-AU" sz="8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 – BSW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 – GMP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 – LMR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 – HUM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4914549"/>
                  </a:ext>
                </a:extLst>
              </a:tr>
              <a:tr h="478060">
                <a:tc>
                  <a:txBody>
                    <a:bodyPr/>
                    <a:lstStyle/>
                    <a:p>
                      <a:pPr algn="ctr"/>
                      <a:r>
                        <a:rPr lang="en-AU" sz="8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 – GIP</a:t>
                      </a:r>
                      <a:endParaRPr lang="en-AU" sz="800" b="1" noProof="0" dirty="0">
                        <a:solidFill>
                          <a:srgbClr val="ED7D3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 – SMR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 – EMR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8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 – NWM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462192"/>
                  </a:ext>
                </a:extLst>
              </a:tr>
            </a:tbl>
          </a:graphicData>
        </a:graphic>
      </p:graphicFrame>
      <p:graphicFrame>
        <p:nvGraphicFramePr>
          <p:cNvPr id="8" name="OPS_GRID_LEGEND">
            <a:extLst>
              <a:ext uri="{FF2B5EF4-FFF2-40B4-BE49-F238E27FC236}">
                <a16:creationId xmlns:a16="http://schemas.microsoft.com/office/drawing/2014/main" id="{14F00123-4718-DB99-F02A-BA83255EA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13137"/>
              </p:ext>
            </p:extLst>
          </p:nvPr>
        </p:nvGraphicFramePr>
        <p:xfrm>
          <a:off x="3909812" y="3772332"/>
          <a:ext cx="634988" cy="9828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34988">
                  <a:extLst>
                    <a:ext uri="{9D8B030D-6E8A-4147-A177-3AD203B41FA5}">
                      <a16:colId xmlns:a16="http://schemas.microsoft.com/office/drawing/2014/main" val="4204979992"/>
                    </a:ext>
                  </a:extLst>
                </a:gridCol>
              </a:tblGrid>
              <a:tr h="327600">
                <a:tc>
                  <a:txBody>
                    <a:bodyPr/>
                    <a:lstStyle/>
                    <a:p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Active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076677"/>
                  </a:ext>
                </a:extLst>
              </a:tr>
              <a:tr h="327600">
                <a:tc>
                  <a:txBody>
                    <a:bodyPr/>
                    <a:lstStyle/>
                    <a:p>
                      <a:pPr algn="ctr"/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652792"/>
                  </a:ext>
                </a:extLst>
              </a:tr>
              <a:tr h="327600">
                <a:tc>
                  <a:txBody>
                    <a:bodyPr/>
                    <a:lstStyle/>
                    <a:p>
                      <a:pPr algn="ctr"/>
                      <a:r>
                        <a:rPr lang="en-AU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Readiness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570860"/>
                  </a:ext>
                </a:extLst>
              </a:tr>
            </a:tbl>
          </a:graphicData>
        </a:graphic>
      </p:graphicFrame>
      <p:pic>
        <p:nvPicPr>
          <p:cNvPr id="4" name="OPS_IMG:scc_roster" descr="Operational Summary image slot scc_roster">
            <a:extLst>
              <a:ext uri="{FF2B5EF4-FFF2-40B4-BE49-F238E27FC236}">
                <a16:creationId xmlns:a16="http://schemas.microsoft.com/office/drawing/2014/main" id="{ED4C7358-7849-4FD2-977E-C9C8CA3EB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49" y="1165050"/>
            <a:ext cx="4131267" cy="23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932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Table 143">
            <a:extLst>
              <a:ext uri="{FF2B5EF4-FFF2-40B4-BE49-F238E27FC236}">
                <a16:creationId xmlns:a16="http://schemas.microsoft.com/office/drawing/2014/main" id="{9BFDD54C-522D-490C-9484-B830739BE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582078"/>
              </p:ext>
            </p:extLst>
          </p:nvPr>
        </p:nvGraphicFramePr>
        <p:xfrm>
          <a:off x="46721" y="734190"/>
          <a:ext cx="9050558" cy="4378348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{6E25E649-3F16-4E02-A733-19D2CDBF48F0}</a:tableStyleId>
              </a:tblPr>
              <a:tblGrid>
                <a:gridCol w="4198254">
                  <a:extLst>
                    <a:ext uri="{9D8B030D-6E8A-4147-A177-3AD203B41FA5}">
                      <a16:colId xmlns:a16="http://schemas.microsoft.com/office/drawing/2014/main" val="1893234857"/>
                    </a:ext>
                  </a:extLst>
                </a:gridCol>
                <a:gridCol w="602214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  <a:gridCol w="117665">
                  <a:extLst>
                    <a:ext uri="{9D8B030D-6E8A-4147-A177-3AD203B41FA5}">
                      <a16:colId xmlns:a16="http://schemas.microsoft.com/office/drawing/2014/main" val="508258294"/>
                    </a:ext>
                  </a:extLst>
                </a:gridCol>
                <a:gridCol w="501845">
                  <a:extLst>
                    <a:ext uri="{9D8B030D-6E8A-4147-A177-3AD203B41FA5}">
                      <a16:colId xmlns:a16="http://schemas.microsoft.com/office/drawing/2014/main" val="873442003"/>
                    </a:ext>
                  </a:extLst>
                </a:gridCol>
                <a:gridCol w="200738">
                  <a:extLst>
                    <a:ext uri="{9D8B030D-6E8A-4147-A177-3AD203B41FA5}">
                      <a16:colId xmlns:a16="http://schemas.microsoft.com/office/drawing/2014/main" val="742959394"/>
                    </a:ext>
                  </a:extLst>
                </a:gridCol>
                <a:gridCol w="401476">
                  <a:extLst>
                    <a:ext uri="{9D8B030D-6E8A-4147-A177-3AD203B41FA5}">
                      <a16:colId xmlns:a16="http://schemas.microsoft.com/office/drawing/2014/main" val="3633629988"/>
                    </a:ext>
                  </a:extLst>
                </a:gridCol>
                <a:gridCol w="301107">
                  <a:extLst>
                    <a:ext uri="{9D8B030D-6E8A-4147-A177-3AD203B41FA5}">
                      <a16:colId xmlns:a16="http://schemas.microsoft.com/office/drawing/2014/main" val="1810077901"/>
                    </a:ext>
                  </a:extLst>
                </a:gridCol>
                <a:gridCol w="301107">
                  <a:extLst>
                    <a:ext uri="{9D8B030D-6E8A-4147-A177-3AD203B41FA5}">
                      <a16:colId xmlns:a16="http://schemas.microsoft.com/office/drawing/2014/main" val="1738607154"/>
                    </a:ext>
                  </a:extLst>
                </a:gridCol>
                <a:gridCol w="401476">
                  <a:extLst>
                    <a:ext uri="{9D8B030D-6E8A-4147-A177-3AD203B41FA5}">
                      <a16:colId xmlns:a16="http://schemas.microsoft.com/office/drawing/2014/main" val="2568422916"/>
                    </a:ext>
                  </a:extLst>
                </a:gridCol>
                <a:gridCol w="200738">
                  <a:extLst>
                    <a:ext uri="{9D8B030D-6E8A-4147-A177-3AD203B41FA5}">
                      <a16:colId xmlns:a16="http://schemas.microsoft.com/office/drawing/2014/main" val="3697584948"/>
                    </a:ext>
                  </a:extLst>
                </a:gridCol>
                <a:gridCol w="501845">
                  <a:extLst>
                    <a:ext uri="{9D8B030D-6E8A-4147-A177-3AD203B41FA5}">
                      <a16:colId xmlns:a16="http://schemas.microsoft.com/office/drawing/2014/main" val="484900640"/>
                    </a:ext>
                  </a:extLst>
                </a:gridCol>
                <a:gridCol w="117665">
                  <a:extLst>
                    <a:ext uri="{9D8B030D-6E8A-4147-A177-3AD203B41FA5}">
                      <a16:colId xmlns:a16="http://schemas.microsoft.com/office/drawing/2014/main" val="506873943"/>
                    </a:ext>
                  </a:extLst>
                </a:gridCol>
                <a:gridCol w="602214">
                  <a:extLst>
                    <a:ext uri="{9D8B030D-6E8A-4147-A177-3AD203B41FA5}">
                      <a16:colId xmlns:a16="http://schemas.microsoft.com/office/drawing/2014/main" val="489693825"/>
                    </a:ext>
                  </a:extLst>
                </a:gridCol>
                <a:gridCol w="602214">
                  <a:extLst>
                    <a:ext uri="{9D8B030D-6E8A-4147-A177-3AD203B41FA5}">
                      <a16:colId xmlns:a16="http://schemas.microsoft.com/office/drawing/2014/main" val="3226438539"/>
                    </a:ext>
                  </a:extLst>
                </a:gridCol>
              </a:tblGrid>
              <a:tr h="245759">
                <a:tc>
                  <a:txBody>
                    <a:bodyPr/>
                    <a:lstStyle/>
                    <a:p>
                      <a:r>
                        <a:rPr lang="en-AU" sz="900" b="1" u="none" cap="all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 gridSpan="13">
                  <a:txBody>
                    <a:bodyPr/>
                    <a:lstStyle/>
                    <a:p>
                      <a:r>
                        <a:rPr lang="en-AU" sz="900" b="1" u="none" cap="all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AU" sz="900" b="1" u="none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Product Quick Links</a:t>
                      </a:r>
                      <a:endParaRPr lang="en-AU" sz="900" b="1" u="none" cap="all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900" b="1" u="none" cap="all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457308">
                <a:tc rowSpan="6"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4"/>
                        </a:rPr>
                        <a:t>http://www.bom.gov.au/vic/warnings/ 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4"/>
                        </a:rPr>
                        <a:t>http://www.bom.gov.au/vic/warnings/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5"/>
                        </a:rPr>
                        <a:t>http://www.bom.gov.au/vic/forecasts/state.shtml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6"/>
                        </a:rPr>
                        <a:t>https://www2.health.vic.gov.au/public-health/chief-health-officer 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7"/>
                        </a:rPr>
                        <a:t>http://www.health.vic.gov.au/heat-health-alert-system/index.htm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8"/>
                        </a:rPr>
                        <a:t>https://www2.health.vic.gov.au/public-health/environmental-health/climate-weather-and-public-health/thunderstorm-asthma/forecasting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9"/>
                        </a:rPr>
                        <a:t>https://earthquakes.ga.gov.au/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0"/>
                        </a:rPr>
                        <a:t>http://www.bom.gov.au/tsunami/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1"/>
                        </a:rPr>
                        <a:t>https://files-portal.em.vic.gov.au/refdocs/IDV35015.pdf?v=3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2"/>
                        </a:rPr>
                        <a:t>https://www.nationalsecurity.gov.au/national-threat-level/current-national-terrorism-threat-level</a:t>
                      </a: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3"/>
                        </a:rPr>
                        <a:t>http://app.prod.cop.em.vic.gov.au/sadisplay/poweroutages/ 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4"/>
                        </a:rPr>
                        <a:t>https://www.cfa.vic.gov.au/warnings-restrictions/total-fire-bans-and-ratings/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5"/>
                        </a:rPr>
                        <a:t>https://www.cfa.vic.gov.au/warnings-restrictions/fire-danger-period-restrictions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6"/>
                        </a:rPr>
                        <a:t>https://www.ffm.vic.gov.au/permits-and-regulations/fire-restriction-dates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7"/>
                        </a:rPr>
                        <a:t>https://plannedburns.ffm.vic.gov.au/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8"/>
                        </a:rPr>
                        <a:t>http://ptv.vic.gov.au/live-travel-updates/</a:t>
                      </a: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19"/>
                        </a:rPr>
                        <a:t>https://twitter.com/Melair 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0"/>
                        </a:rPr>
                        <a:t>http://www.avalonairport.com.au/at-avalon/flight-schedules/</a:t>
                      </a: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1"/>
                        </a:rPr>
                        <a:t>https://twitter.com/AvalonAirportAU</a:t>
                      </a: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2"/>
                        </a:rPr>
                        <a:t>https://www.vline.com.au/</a:t>
                      </a: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3"/>
                        </a:rPr>
                        <a:t>http://alerts.vicroads.vic.gov.au/</a:t>
                      </a: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4"/>
                        </a:rPr>
                        <a:t>https://twitter.com/VicTraffic</a:t>
                      </a: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5"/>
                        </a:rPr>
                        <a:t>https://www.linkt.com.au/melbourne/using-toll-roads/traffic-and-alerts</a:t>
                      </a: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SCC Public Information Team / Facebook / Twitter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6"/>
                        </a:rPr>
                        <a:t>https://files-portal.em.vic.gov.au/refdocs/SCC-ActivationLevels.htm?v=1620520720076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7"/>
                        </a:rPr>
                        <a:t>https://files-em.em.vic.gov.au/Walls/IDV21032.html?v=1709696087146</a:t>
                      </a: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AU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  <a:r>
                        <a:rPr lang="en-AU" sz="600" b="0" i="1" kern="1200" baseline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Please note that as of 26 November 2022 SES data reported in the State Operational Summary has changed and will </a:t>
                      </a:r>
                      <a:r>
                        <a:rPr lang="en-AU" sz="600" b="1" i="1" kern="1200" baseline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exclude ‘Advised Events’</a:t>
                      </a:r>
                      <a:r>
                        <a:rPr lang="en-AU" sz="600" b="0" i="1" kern="1200" baseline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An ‘Advised Event’ can be described as a 132 500 call made to Triple Zero Victoria, that does not meet the requirements for SES unit response as described in the relevant SES Standard Operating Procedures (SOPs). </a:t>
                      </a:r>
                      <a:r>
                        <a:rPr lang="en-AU" sz="600" b="0" i="1" kern="1200" baseline="0" noProof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 a result of this change, associated filtering modifications and a revised 24 hr reporting period starting at 0600 hrs instead of 0500 hrs</a:t>
                      </a:r>
                      <a:r>
                        <a:rPr lang="en-AU" sz="600" b="0" i="1" kern="1200" baseline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SES data reported in this document may be different compared to previous event counts. </a:t>
                      </a:r>
                      <a:r>
                        <a:rPr lang="en-AU" sz="600" b="0" i="1" kern="1200" baseline="0" noProof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Adjustments have been made to both daily and year-to-date data</a:t>
                      </a:r>
                      <a:r>
                        <a:rPr lang="en-AU" sz="600" b="0" i="1" kern="1200" baseline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Please contact SES if you require more detail about the classification of an Advised Event.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AU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  <a:alpha val="1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AU" sz="900" b="1" u="none" noProof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  <a:tr h="10752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900" b="1" u="none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702595"/>
                  </a:ext>
                </a:extLst>
              </a:tr>
              <a:tr h="2457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3">
                  <a:txBody>
                    <a:bodyPr/>
                    <a:lstStyle/>
                    <a:p>
                      <a:r>
                        <a:rPr lang="en-AU" sz="900" b="1" u="none" cap="all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BoM</a:t>
                      </a:r>
                      <a:r>
                        <a:rPr lang="en-AU" sz="900" b="1" u="none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Product Quick Links</a:t>
                      </a:r>
                      <a:endParaRPr lang="en-AU" sz="900" b="1" u="none" cap="all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900" b="1" u="none" cap="all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641402"/>
                  </a:ext>
                </a:extLst>
              </a:tr>
              <a:tr h="4117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135889"/>
                  </a:ext>
                </a:extLst>
              </a:tr>
              <a:tr h="12241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noProof="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924126"/>
                  </a:ext>
                </a:extLst>
              </a:tr>
              <a:tr h="7183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u="none" cap="all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Legend: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50" b="0" i="0" noProof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     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50" b="0" i="0" noProof="0" dirty="0">
                          <a:solidFill>
                            <a:srgbClr val="595959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          </a:t>
                      </a:r>
                      <a:r>
                        <a:rPr lang="en-AU" sz="750" b="0" i="0" noProof="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= Not Currently available as at 0830hrs</a:t>
                      </a:r>
                    </a:p>
                    <a:p>
                      <a:pPr algn="l"/>
                      <a:endParaRPr lang="en-AU" sz="750" b="0" i="0" noProof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AU" sz="75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AU" sz="75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AU" sz="75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AU" sz="75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AU" sz="75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771658"/>
                  </a:ext>
                </a:extLst>
              </a:tr>
            </a:tbl>
          </a:graphicData>
        </a:graphic>
      </p:graphicFrame>
      <p:sp>
        <p:nvSpPr>
          <p:cNvPr id="5" name="Action Button: Custom 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5E848C7-E756-E14F-ABB7-74F1AF2D7A59}"/>
              </a:ext>
            </a:extLst>
          </p:cNvPr>
          <p:cNvSpPr/>
          <p:nvPr/>
        </p:nvSpPr>
        <p:spPr>
          <a:xfrm>
            <a:off x="0" y="0"/>
            <a:ext cx="736847" cy="68478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93085EB-1104-4750-AAB4-49EFC71D5064}"/>
              </a:ext>
            </a:extLst>
          </p:cNvPr>
          <p:cNvGrpSpPr/>
          <p:nvPr/>
        </p:nvGrpSpPr>
        <p:grpSpPr>
          <a:xfrm>
            <a:off x="4234626" y="1057537"/>
            <a:ext cx="4914352" cy="3750088"/>
            <a:chOff x="4221232" y="1076811"/>
            <a:chExt cx="4914352" cy="3750088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7C82E9A-A531-40D9-959F-6D8DB7320BF4}"/>
                </a:ext>
              </a:extLst>
            </p:cNvPr>
            <p:cNvGrpSpPr/>
            <p:nvPr/>
          </p:nvGrpSpPr>
          <p:grpSpPr>
            <a:xfrm>
              <a:off x="4221232" y="1536344"/>
              <a:ext cx="577402" cy="714882"/>
              <a:chOff x="4633239" y="1263099"/>
              <a:chExt cx="577402" cy="714882"/>
            </a:xfrm>
          </p:grpSpPr>
          <p:pic>
            <p:nvPicPr>
              <p:cNvPr id="67" name="Picture 66">
                <a:hlinkClick r:id="rId28"/>
                <a:extLst>
                  <a:ext uri="{FF2B5EF4-FFF2-40B4-BE49-F238E27FC236}">
                    <a16:creationId xmlns:a16="http://schemas.microsoft.com/office/drawing/2014/main" id="{DEF85299-7BE5-4E1F-93C0-D3AE0DBFA3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9"/>
              <a:srcRect b="36338"/>
              <a:stretch/>
            </p:blipFill>
            <p:spPr>
              <a:xfrm>
                <a:off x="4751939" y="1263099"/>
                <a:ext cx="429402" cy="440870"/>
              </a:xfrm>
              <a:prstGeom prst="rect">
                <a:avLst/>
              </a:prstGeom>
            </p:spPr>
          </p:pic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906399C-D312-4692-9762-1A03238001F4}"/>
                  </a:ext>
                </a:extLst>
              </p:cNvPr>
              <p:cNvSpPr/>
              <p:nvPr/>
            </p:nvSpPr>
            <p:spPr>
              <a:xfrm>
                <a:off x="4633239" y="1700982"/>
                <a:ext cx="57740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Intelligence</a:t>
                </a:r>
              </a:p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Products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B1EA7D3-5A41-4E7E-AA8B-91A03C99CDB8}"/>
                </a:ext>
              </a:extLst>
            </p:cNvPr>
            <p:cNvGrpSpPr/>
            <p:nvPr/>
          </p:nvGrpSpPr>
          <p:grpSpPr>
            <a:xfrm>
              <a:off x="4839972" y="1517801"/>
              <a:ext cx="604653" cy="734331"/>
              <a:chOff x="5180201" y="1282979"/>
              <a:chExt cx="604653" cy="734331"/>
            </a:xfrm>
          </p:grpSpPr>
          <p:pic>
            <p:nvPicPr>
              <p:cNvPr id="78" name="Picture 77">
                <a:hlinkClick r:id="rId30"/>
                <a:extLst>
                  <a:ext uri="{FF2B5EF4-FFF2-40B4-BE49-F238E27FC236}">
                    <a16:creationId xmlns:a16="http://schemas.microsoft.com/office/drawing/2014/main" id="{5115D235-6DB3-4389-949F-71E00DEB9D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1"/>
              <a:srcRect b="40313"/>
              <a:stretch/>
            </p:blipFill>
            <p:spPr>
              <a:xfrm>
                <a:off x="5241429" y="1282979"/>
                <a:ext cx="482196" cy="406070"/>
              </a:xfrm>
              <a:prstGeom prst="rect">
                <a:avLst/>
              </a:prstGeom>
            </p:spPr>
          </p:pic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234ED334-6DF0-40B4-AE93-3883389BD5EE}"/>
                  </a:ext>
                </a:extLst>
              </p:cNvPr>
              <p:cNvSpPr/>
              <p:nvPr/>
            </p:nvSpPr>
            <p:spPr>
              <a:xfrm>
                <a:off x="5180201" y="1740311"/>
                <a:ext cx="60465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Weekly Intel</a:t>
                </a:r>
                <a:b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Summary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28241ACC-2F6D-44C8-B30A-7881552CB35E}"/>
                </a:ext>
              </a:extLst>
            </p:cNvPr>
            <p:cNvGrpSpPr/>
            <p:nvPr/>
          </p:nvGrpSpPr>
          <p:grpSpPr>
            <a:xfrm>
              <a:off x="5441468" y="1504836"/>
              <a:ext cx="604653" cy="747296"/>
              <a:chOff x="5740398" y="1270016"/>
              <a:chExt cx="604653" cy="747296"/>
            </a:xfrm>
          </p:grpSpPr>
          <p:pic>
            <p:nvPicPr>
              <p:cNvPr id="84" name="Picture 83">
                <a:hlinkClick r:id="rId32"/>
                <a:extLst>
                  <a:ext uri="{FF2B5EF4-FFF2-40B4-BE49-F238E27FC236}">
                    <a16:creationId xmlns:a16="http://schemas.microsoft.com/office/drawing/2014/main" id="{19F6D0D2-E7CE-4C1B-BD87-43C7C6C0728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3"/>
              <a:srcRect t="6850" r="15950" b="49471"/>
              <a:stretch/>
            </p:blipFill>
            <p:spPr>
              <a:xfrm>
                <a:off x="5740398" y="1270016"/>
                <a:ext cx="604653" cy="440870"/>
              </a:xfrm>
              <a:prstGeom prst="rect">
                <a:avLst/>
              </a:prstGeom>
            </p:spPr>
          </p:pic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3EE1C808-8808-4EE0-AE17-C3D489F2F39F}"/>
                  </a:ext>
                </a:extLst>
              </p:cNvPr>
              <p:cNvSpPr/>
              <p:nvPr/>
            </p:nvSpPr>
            <p:spPr>
              <a:xfrm>
                <a:off x="5784854" y="1740313"/>
                <a:ext cx="52770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SCC </a:t>
                </a:r>
              </a:p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 Pack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643A6632-DD86-4366-B7EB-64863C4E55A6}"/>
                </a:ext>
              </a:extLst>
            </p:cNvPr>
            <p:cNvGrpSpPr/>
            <p:nvPr/>
          </p:nvGrpSpPr>
          <p:grpSpPr>
            <a:xfrm>
              <a:off x="6018485" y="1536948"/>
              <a:ext cx="692818" cy="724714"/>
              <a:chOff x="6274894" y="1292596"/>
              <a:chExt cx="692818" cy="724714"/>
            </a:xfrm>
          </p:grpSpPr>
          <p:pic>
            <p:nvPicPr>
              <p:cNvPr id="88" name="Picture 87">
                <a:hlinkClick r:id="rId34"/>
                <a:extLst>
                  <a:ext uri="{FF2B5EF4-FFF2-40B4-BE49-F238E27FC236}">
                    <a16:creationId xmlns:a16="http://schemas.microsoft.com/office/drawing/2014/main" id="{E73E6585-0938-44A8-B4E8-FBEAB85468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/>
              <a:srcRect b="49999"/>
              <a:stretch/>
            </p:blipFill>
            <p:spPr>
              <a:xfrm>
                <a:off x="6398833" y="1292596"/>
                <a:ext cx="457423" cy="396453"/>
              </a:xfrm>
              <a:prstGeom prst="rect">
                <a:avLst/>
              </a:prstGeom>
            </p:spPr>
          </p:pic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5D36FD8-3E20-4568-93F2-08F9CD4D444E}"/>
                  </a:ext>
                </a:extLst>
              </p:cNvPr>
              <p:cNvSpPr/>
              <p:nvPr/>
            </p:nvSpPr>
            <p:spPr>
              <a:xfrm>
                <a:off x="6274894" y="1740311"/>
                <a:ext cx="69281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State SitRep</a:t>
                </a:r>
                <a:b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(0600 or 1900)</a:t>
                </a: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1B70346A-30D8-4099-93F9-361ABF6365E6}"/>
                </a:ext>
              </a:extLst>
            </p:cNvPr>
            <p:cNvGrpSpPr/>
            <p:nvPr/>
          </p:nvGrpSpPr>
          <p:grpSpPr>
            <a:xfrm>
              <a:off x="6630023" y="1583848"/>
              <a:ext cx="686406" cy="683284"/>
              <a:chOff x="6826530" y="1334026"/>
              <a:chExt cx="686406" cy="683284"/>
            </a:xfrm>
          </p:grpSpPr>
          <p:pic>
            <p:nvPicPr>
              <p:cNvPr id="94" name="Picture 93">
                <a:hlinkClick r:id="rId36"/>
                <a:extLst>
                  <a:ext uri="{FF2B5EF4-FFF2-40B4-BE49-F238E27FC236}">
                    <a16:creationId xmlns:a16="http://schemas.microsoft.com/office/drawing/2014/main" id="{ECC87896-3BF9-4618-BB1E-99BEDAEC62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7"/>
              <a:srcRect t="8890" b="39862"/>
              <a:stretch/>
            </p:blipFill>
            <p:spPr>
              <a:xfrm>
                <a:off x="6958762" y="1334026"/>
                <a:ext cx="421943" cy="396453"/>
              </a:xfrm>
              <a:prstGeom prst="rect">
                <a:avLst/>
              </a:prstGeom>
            </p:spPr>
          </p:pic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26AAB38-9D34-4D47-BE86-A778E5CE4D6A}"/>
                  </a:ext>
                </a:extLst>
              </p:cNvPr>
              <p:cNvSpPr/>
              <p:nvPr/>
            </p:nvSpPr>
            <p:spPr>
              <a:xfrm>
                <a:off x="6826530" y="1740311"/>
                <a:ext cx="68640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State Situation</a:t>
                </a:r>
                <a:b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Update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EA3DD73E-208B-4BD0-8C22-A42D0A0F7BC8}"/>
                </a:ext>
              </a:extLst>
            </p:cNvPr>
            <p:cNvGrpSpPr/>
            <p:nvPr/>
          </p:nvGrpSpPr>
          <p:grpSpPr>
            <a:xfrm>
              <a:off x="7219741" y="1569028"/>
              <a:ext cx="726481" cy="705422"/>
              <a:chOff x="7481640" y="1297074"/>
              <a:chExt cx="726481" cy="705422"/>
            </a:xfrm>
          </p:grpSpPr>
          <p:pic>
            <p:nvPicPr>
              <p:cNvPr id="97" name="Picture 96">
                <a:hlinkClick r:id="rId38"/>
                <a:extLst>
                  <a:ext uri="{FF2B5EF4-FFF2-40B4-BE49-F238E27FC236}">
                    <a16:creationId xmlns:a16="http://schemas.microsoft.com/office/drawing/2014/main" id="{82AACE72-FF2B-4006-BA42-8EAA379852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9"/>
              <a:srcRect b="46435"/>
              <a:stretch/>
            </p:blipFill>
            <p:spPr>
              <a:xfrm>
                <a:off x="7642800" y="1297074"/>
                <a:ext cx="404147" cy="396453"/>
              </a:xfrm>
              <a:prstGeom prst="rect">
                <a:avLst/>
              </a:prstGeom>
            </p:spPr>
          </p:pic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76BE9B55-13C2-4D76-9433-F0567CFBA282}"/>
                  </a:ext>
                </a:extLst>
              </p:cNvPr>
              <p:cNvSpPr/>
              <p:nvPr/>
            </p:nvSpPr>
            <p:spPr>
              <a:xfrm>
                <a:off x="7481640" y="1725497"/>
                <a:ext cx="72648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Significant </a:t>
                </a:r>
                <a:b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Incident Update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6CC9197-FFC2-479A-BC94-9F77A4DA74E9}"/>
                </a:ext>
              </a:extLst>
            </p:cNvPr>
            <p:cNvGrpSpPr/>
            <p:nvPr/>
          </p:nvGrpSpPr>
          <p:grpSpPr>
            <a:xfrm>
              <a:off x="7828476" y="1606631"/>
              <a:ext cx="764953" cy="664045"/>
              <a:chOff x="8071155" y="1335121"/>
              <a:chExt cx="764953" cy="664045"/>
            </a:xfrm>
          </p:grpSpPr>
          <p:pic>
            <p:nvPicPr>
              <p:cNvPr id="100" name="Picture 99">
                <a:hlinkClick r:id="rId40"/>
                <a:extLst>
                  <a:ext uri="{FF2B5EF4-FFF2-40B4-BE49-F238E27FC236}">
                    <a16:creationId xmlns:a16="http://schemas.microsoft.com/office/drawing/2014/main" id="{ED0B58B1-DBD2-40A9-8015-6A54A05039CA}"/>
                  </a:ext>
                </a:extLst>
              </p:cNvPr>
              <p:cNvPicPr/>
              <p:nvPr/>
            </p:nvPicPr>
            <p:blipFill rotWithShape="1">
              <a:blip r:embed="rId41"/>
              <a:srcRect b="43752"/>
              <a:stretch/>
            </p:blipFill>
            <p:spPr>
              <a:xfrm>
                <a:off x="8254918" y="1335121"/>
                <a:ext cx="395218" cy="358140"/>
              </a:xfrm>
              <a:prstGeom prst="rect">
                <a:avLst/>
              </a:prstGeom>
            </p:spPr>
          </p:pic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F44152A9-0330-4B6C-B233-5085CB43C4B4}"/>
                  </a:ext>
                </a:extLst>
              </p:cNvPr>
              <p:cNvSpPr/>
              <p:nvPr/>
            </p:nvSpPr>
            <p:spPr>
              <a:xfrm>
                <a:off x="8071155" y="1722167"/>
                <a:ext cx="76495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State Relief &amp; </a:t>
                </a:r>
                <a:b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Recovery Report</a:t>
                </a: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877D040-BF36-466C-8C64-120A9F01A485}"/>
                </a:ext>
              </a:extLst>
            </p:cNvPr>
            <p:cNvGrpSpPr/>
            <p:nvPr/>
          </p:nvGrpSpPr>
          <p:grpSpPr>
            <a:xfrm>
              <a:off x="8559808" y="1621042"/>
              <a:ext cx="447558" cy="641982"/>
              <a:chOff x="8571654" y="1368955"/>
              <a:chExt cx="447558" cy="644238"/>
            </a:xfrm>
          </p:grpSpPr>
          <p:pic>
            <p:nvPicPr>
              <p:cNvPr id="103" name="Picture 102">
                <a:hlinkClick r:id="rId42"/>
                <a:extLst>
                  <a:ext uri="{FF2B5EF4-FFF2-40B4-BE49-F238E27FC236}">
                    <a16:creationId xmlns:a16="http://schemas.microsoft.com/office/drawing/2014/main" id="{5BD00AB5-3AC4-4F49-831D-CCD6EB9F8D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3"/>
              <a:srcRect t="1" b="33670"/>
              <a:stretch/>
            </p:blipFill>
            <p:spPr>
              <a:xfrm>
                <a:off x="8651381" y="1368955"/>
                <a:ext cx="367331" cy="357653"/>
              </a:xfrm>
              <a:prstGeom prst="rect">
                <a:avLst/>
              </a:prstGeom>
            </p:spPr>
          </p:pic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27405EB6-E50D-4D9C-BA37-EA6267223949}"/>
                  </a:ext>
                </a:extLst>
              </p:cNvPr>
              <p:cNvSpPr/>
              <p:nvPr/>
            </p:nvSpPr>
            <p:spPr>
              <a:xfrm>
                <a:off x="8571654" y="1736194"/>
                <a:ext cx="44755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SCC </a:t>
                </a:r>
                <a:b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Briefing</a:t>
                </a: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A91125EE-683C-4C13-8A7B-3A2E87543A0F}"/>
                </a:ext>
              </a:extLst>
            </p:cNvPr>
            <p:cNvGrpSpPr/>
            <p:nvPr/>
          </p:nvGrpSpPr>
          <p:grpSpPr>
            <a:xfrm>
              <a:off x="4301690" y="3296633"/>
              <a:ext cx="604653" cy="660470"/>
              <a:chOff x="4507758" y="3255632"/>
              <a:chExt cx="604653" cy="660470"/>
            </a:xfrm>
          </p:grpSpPr>
          <p:pic>
            <p:nvPicPr>
              <p:cNvPr id="106" name="Picture 105">
                <a:hlinkClick r:id="rId44"/>
                <a:extLst>
                  <a:ext uri="{FF2B5EF4-FFF2-40B4-BE49-F238E27FC236}">
                    <a16:creationId xmlns:a16="http://schemas.microsoft.com/office/drawing/2014/main" id="{695F58A7-A4C6-43AF-A239-B84B5539B4F1}"/>
                  </a:ext>
                </a:extLst>
              </p:cNvPr>
              <p:cNvPicPr/>
              <p:nvPr/>
            </p:nvPicPr>
            <p:blipFill rotWithShape="1">
              <a:blip r:embed="rId45"/>
              <a:srcRect l="11321" r="13214" b="42216"/>
              <a:stretch/>
            </p:blipFill>
            <p:spPr>
              <a:xfrm>
                <a:off x="4674200" y="3255632"/>
                <a:ext cx="299019" cy="383471"/>
              </a:xfrm>
              <a:prstGeom prst="rect">
                <a:avLst/>
              </a:prstGeom>
            </p:spPr>
          </p:pic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DA02C3C-C2CF-4623-9FCF-5173D1723892}"/>
                  </a:ext>
                </a:extLst>
              </p:cNvPr>
              <p:cNvSpPr/>
              <p:nvPr/>
            </p:nvSpPr>
            <p:spPr>
              <a:xfrm>
                <a:off x="4507758" y="3639103"/>
                <a:ext cx="60465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Severe </a:t>
                </a:r>
                <a:b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Wind Event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54901EE4-ED7C-4803-AD3C-0BBD0B7A495E}"/>
                </a:ext>
              </a:extLst>
            </p:cNvPr>
            <p:cNvGrpSpPr/>
            <p:nvPr/>
          </p:nvGrpSpPr>
          <p:grpSpPr>
            <a:xfrm>
              <a:off x="4966329" y="3296633"/>
              <a:ext cx="604653" cy="660471"/>
              <a:chOff x="5040598" y="3185397"/>
              <a:chExt cx="604653" cy="660471"/>
            </a:xfrm>
          </p:grpSpPr>
          <p:pic>
            <p:nvPicPr>
              <p:cNvPr id="109" name="Picture 108">
                <a:hlinkClick r:id="rId46"/>
                <a:extLst>
                  <a:ext uri="{FF2B5EF4-FFF2-40B4-BE49-F238E27FC236}">
                    <a16:creationId xmlns:a16="http://schemas.microsoft.com/office/drawing/2014/main" id="{9DBCF6EE-DF68-4535-8956-F434D8BA9B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7"/>
              <a:srcRect t="1" r="8731" b="41587"/>
              <a:stretch/>
            </p:blipFill>
            <p:spPr>
              <a:xfrm>
                <a:off x="5154171" y="3185397"/>
                <a:ext cx="357141" cy="383471"/>
              </a:xfrm>
              <a:prstGeom prst="rect">
                <a:avLst/>
              </a:prstGeom>
            </p:spPr>
          </p:pic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E060B992-D605-4110-AC0A-0DCB6BD991E3}"/>
                  </a:ext>
                </a:extLst>
              </p:cNvPr>
              <p:cNvSpPr/>
              <p:nvPr/>
            </p:nvSpPr>
            <p:spPr>
              <a:xfrm>
                <a:off x="5040598" y="3568869"/>
                <a:ext cx="60465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Severe </a:t>
                </a:r>
                <a:b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Rain Event</a:t>
                </a: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88F3CC3-CBBA-4F5F-A649-2DE69C3A5D9E}"/>
                </a:ext>
              </a:extLst>
            </p:cNvPr>
            <p:cNvGrpSpPr/>
            <p:nvPr/>
          </p:nvGrpSpPr>
          <p:grpSpPr>
            <a:xfrm>
              <a:off x="5728003" y="3266447"/>
              <a:ext cx="604653" cy="878296"/>
              <a:chOff x="5656851" y="3165586"/>
              <a:chExt cx="604653" cy="878296"/>
            </a:xfrm>
          </p:grpSpPr>
          <p:pic>
            <p:nvPicPr>
              <p:cNvPr id="112" name="Picture 111">
                <a:hlinkClick r:id="rId48"/>
                <a:extLst>
                  <a:ext uri="{FF2B5EF4-FFF2-40B4-BE49-F238E27FC236}">
                    <a16:creationId xmlns:a16="http://schemas.microsoft.com/office/drawing/2014/main" id="{B2A19A66-F258-4699-BE00-8210DB6257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9"/>
              <a:srcRect l="10431" r="10431"/>
              <a:stretch/>
            </p:blipFill>
            <p:spPr>
              <a:xfrm>
                <a:off x="5715075" y="3165586"/>
                <a:ext cx="472476" cy="474630"/>
              </a:xfrm>
              <a:prstGeom prst="rect">
                <a:avLst/>
              </a:prstGeom>
            </p:spPr>
          </p:pic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98AF38E0-7E3D-4055-9FE2-6160151CC97D}"/>
                  </a:ext>
                </a:extLst>
              </p:cNvPr>
              <p:cNvSpPr/>
              <p:nvPr/>
            </p:nvSpPr>
            <p:spPr>
              <a:xfrm>
                <a:off x="5656851" y="3582217"/>
                <a:ext cx="60465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Severe Weather Intelligence Briefing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60BA7EB-4EFC-48A6-8939-954FCB499FA4}"/>
                </a:ext>
              </a:extLst>
            </p:cNvPr>
            <p:cNvGrpSpPr/>
            <p:nvPr/>
          </p:nvGrpSpPr>
          <p:grpSpPr>
            <a:xfrm>
              <a:off x="6342944" y="3309981"/>
              <a:ext cx="604653" cy="656962"/>
              <a:chOff x="6153582" y="3198745"/>
              <a:chExt cx="604653" cy="656962"/>
            </a:xfrm>
          </p:grpSpPr>
          <p:pic>
            <p:nvPicPr>
              <p:cNvPr id="115" name="Picture 114">
                <a:hlinkClick r:id="rId50"/>
                <a:extLst>
                  <a:ext uri="{FF2B5EF4-FFF2-40B4-BE49-F238E27FC236}">
                    <a16:creationId xmlns:a16="http://schemas.microsoft.com/office/drawing/2014/main" id="{A923E6EE-F13A-4B97-B41C-E201C4A06C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1"/>
              <a:srcRect l="12750" r="12750"/>
              <a:stretch/>
            </p:blipFill>
            <p:spPr>
              <a:xfrm>
                <a:off x="6261504" y="3198745"/>
                <a:ext cx="421241" cy="416630"/>
              </a:xfrm>
              <a:prstGeom prst="rect">
                <a:avLst/>
              </a:prstGeom>
            </p:spPr>
          </p:pic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2D4A954-0C31-45BB-BDA7-0F6F98D799A5}"/>
                  </a:ext>
                </a:extLst>
              </p:cNvPr>
              <p:cNvSpPr/>
              <p:nvPr/>
            </p:nvSpPr>
            <p:spPr>
              <a:xfrm>
                <a:off x="6153582" y="3578708"/>
                <a:ext cx="60465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Flood Scenarios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5F37EB3-AD03-4A20-9872-9FB59CCD6828}"/>
                </a:ext>
              </a:extLst>
            </p:cNvPr>
            <p:cNvGrpSpPr/>
            <p:nvPr/>
          </p:nvGrpSpPr>
          <p:grpSpPr>
            <a:xfrm>
              <a:off x="7042340" y="3357753"/>
              <a:ext cx="686406" cy="609587"/>
              <a:chOff x="6591658" y="3274945"/>
              <a:chExt cx="686406" cy="609587"/>
            </a:xfrm>
          </p:grpSpPr>
          <p:pic>
            <p:nvPicPr>
              <p:cNvPr id="118" name="Picture 117">
                <a:hlinkClick r:id="rId52"/>
                <a:extLst>
                  <a:ext uri="{FF2B5EF4-FFF2-40B4-BE49-F238E27FC236}">
                    <a16:creationId xmlns:a16="http://schemas.microsoft.com/office/drawing/2014/main" id="{FCC46DA8-6C24-4BA5-902E-87CA2B76FDB9}"/>
                  </a:ext>
                </a:extLst>
              </p:cNvPr>
              <p:cNvPicPr/>
              <p:nvPr/>
            </p:nvPicPr>
            <p:blipFill rotWithShape="1">
              <a:blip r:embed="rId53"/>
              <a:srcRect t="1" b="42351"/>
              <a:stretch/>
            </p:blipFill>
            <p:spPr>
              <a:xfrm>
                <a:off x="6788980" y="3274945"/>
                <a:ext cx="336450" cy="332588"/>
              </a:xfrm>
              <a:prstGeom prst="rect">
                <a:avLst/>
              </a:prstGeom>
            </p:spPr>
          </p:pic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422F42B4-FA11-4942-9375-4CD20F3CA277}"/>
                  </a:ext>
                </a:extLst>
              </p:cNvPr>
              <p:cNvSpPr/>
              <p:nvPr/>
            </p:nvSpPr>
            <p:spPr>
              <a:xfrm>
                <a:off x="6591658" y="3607533"/>
                <a:ext cx="686406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Fire </a:t>
                </a:r>
                <a:r>
                  <a:rPr lang="en-AU" sz="600" noProof="0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Wx</a:t>
                </a: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&amp;</a:t>
                </a:r>
                <a:b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Heat briefing</a:t>
                </a: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277D457F-F702-4087-9732-8D016454622F}"/>
                </a:ext>
              </a:extLst>
            </p:cNvPr>
            <p:cNvGrpSpPr/>
            <p:nvPr/>
          </p:nvGrpSpPr>
          <p:grpSpPr>
            <a:xfrm>
              <a:off x="7801917" y="3342663"/>
              <a:ext cx="686406" cy="626699"/>
              <a:chOff x="7141269" y="3251159"/>
              <a:chExt cx="686406" cy="626699"/>
            </a:xfrm>
          </p:grpSpPr>
          <p:pic>
            <p:nvPicPr>
              <p:cNvPr id="121" name="Picture 120">
                <a:hlinkClick r:id="rId54"/>
                <a:extLst>
                  <a:ext uri="{FF2B5EF4-FFF2-40B4-BE49-F238E27FC236}">
                    <a16:creationId xmlns:a16="http://schemas.microsoft.com/office/drawing/2014/main" id="{DCD36F26-9FDD-46B7-B29F-93D2F060D2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5"/>
              <a:srcRect r="6360" b="50306"/>
              <a:stretch/>
            </p:blipFill>
            <p:spPr>
              <a:xfrm>
                <a:off x="7216948" y="3251159"/>
                <a:ext cx="532237" cy="396024"/>
              </a:xfrm>
              <a:prstGeom prst="rect">
                <a:avLst/>
              </a:prstGeom>
            </p:spPr>
          </p:pic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A9EA2A4B-DC10-41A1-9B18-CE1DF50AF624}"/>
                  </a:ext>
                </a:extLst>
              </p:cNvPr>
              <p:cNvSpPr/>
              <p:nvPr/>
            </p:nvSpPr>
            <p:spPr>
              <a:xfrm>
                <a:off x="7141269" y="3600859"/>
                <a:ext cx="686406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Wind Change</a:t>
                </a:r>
              </a:p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Forecast</a:t>
                </a: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BAE5B498-E1D2-4478-85AD-D0B70B239C2C}"/>
                </a:ext>
              </a:extLst>
            </p:cNvPr>
            <p:cNvGrpSpPr/>
            <p:nvPr/>
          </p:nvGrpSpPr>
          <p:grpSpPr>
            <a:xfrm>
              <a:off x="8449178" y="3294541"/>
              <a:ext cx="686406" cy="667016"/>
              <a:chOff x="7700407" y="3202187"/>
              <a:chExt cx="686406" cy="667016"/>
            </a:xfrm>
          </p:grpSpPr>
          <p:pic>
            <p:nvPicPr>
              <p:cNvPr id="124" name="Picture 123">
                <a:hlinkClick r:id="rId56"/>
                <a:extLst>
                  <a:ext uri="{FF2B5EF4-FFF2-40B4-BE49-F238E27FC236}">
                    <a16:creationId xmlns:a16="http://schemas.microsoft.com/office/drawing/2014/main" id="{84F79087-F323-4F4A-8358-B6094F09C8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7"/>
              <a:srcRect b="43611"/>
              <a:stretch/>
            </p:blipFill>
            <p:spPr>
              <a:xfrm>
                <a:off x="7802622" y="3202187"/>
                <a:ext cx="480766" cy="416630"/>
              </a:xfrm>
              <a:prstGeom prst="rect">
                <a:avLst/>
              </a:prstGeom>
            </p:spPr>
          </p:pic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9EFF98E9-A458-46C5-83CD-3FB0148242D7}"/>
                  </a:ext>
                </a:extLst>
              </p:cNvPr>
              <p:cNvSpPr/>
              <p:nvPr/>
            </p:nvSpPr>
            <p:spPr>
              <a:xfrm>
                <a:off x="7700407" y="3592204"/>
                <a:ext cx="686406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914400">
                  <a:defRPr/>
                </a:pP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FDI Estimates</a:t>
                </a:r>
                <a:b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600" noProof="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(State)</a:t>
                </a:r>
              </a:p>
            </p:txBody>
          </p:sp>
        </p:grpSp>
        <p:pic>
          <p:nvPicPr>
            <p:cNvPr id="126" name="Legend">
              <a:extLst>
                <a:ext uri="{FF2B5EF4-FFF2-40B4-BE49-F238E27FC236}">
                  <a16:creationId xmlns:a16="http://schemas.microsoft.com/office/drawing/2014/main" id="{FD66651D-AC9E-442F-8533-87FF62B338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rcRect b="19749"/>
            <a:stretch/>
          </p:blipFill>
          <p:spPr>
            <a:xfrm>
              <a:off x="4329695" y="4590618"/>
              <a:ext cx="237442" cy="236281"/>
            </a:xfrm>
            <a:prstGeom prst="rect">
              <a:avLst/>
            </a:prstGeom>
          </p:spPr>
        </p:pic>
        <p:grpSp>
          <p:nvGrpSpPr>
            <p:cNvPr id="127" name="product_Availiable?">
              <a:extLst>
                <a:ext uri="{FF2B5EF4-FFF2-40B4-BE49-F238E27FC236}">
                  <a16:creationId xmlns:a16="http://schemas.microsoft.com/office/drawing/2014/main" id="{7C550F7B-B2A9-42E7-8385-2438EB14B358}"/>
                </a:ext>
              </a:extLst>
            </p:cNvPr>
            <p:cNvGrpSpPr/>
            <p:nvPr/>
          </p:nvGrpSpPr>
          <p:grpSpPr>
            <a:xfrm>
              <a:off x="5657470" y="1076811"/>
              <a:ext cx="3244838" cy="1989798"/>
              <a:chOff x="5657470" y="1076811"/>
              <a:chExt cx="3244838" cy="1989798"/>
            </a:xfrm>
          </p:grpSpPr>
          <p:pic>
            <p:nvPicPr>
              <p:cNvPr id="128" name="Map pack" hidden="1">
                <a:extLst>
                  <a:ext uri="{FF2B5EF4-FFF2-40B4-BE49-F238E27FC236}">
                    <a16:creationId xmlns:a16="http://schemas.microsoft.com/office/drawing/2014/main" id="{C80E224E-4714-4365-A532-AD6067CE197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58"/>
                  </a:ext>
                </a:extLst>
              </a:blip>
              <a:srcRect b="19749"/>
              <a:stretch/>
            </p:blipFill>
            <p:spPr>
              <a:xfrm>
                <a:off x="5657470" y="1134417"/>
                <a:ext cx="237442" cy="236281"/>
              </a:xfrm>
              <a:prstGeom prst="rect">
                <a:avLst/>
              </a:prstGeom>
            </p:spPr>
          </p:pic>
          <p:pic>
            <p:nvPicPr>
              <p:cNvPr id="129" name="Sig Incident Update">
                <a:extLst>
                  <a:ext uri="{FF2B5EF4-FFF2-40B4-BE49-F238E27FC236}">
                    <a16:creationId xmlns:a16="http://schemas.microsoft.com/office/drawing/2014/main" id="{5129D189-CCE2-42F4-B9CF-DBC30376C96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58"/>
                  </a:ext>
                </a:extLst>
              </a:blip>
              <a:srcRect b="19749"/>
              <a:stretch/>
            </p:blipFill>
            <p:spPr>
              <a:xfrm>
                <a:off x="7445195" y="1076812"/>
                <a:ext cx="237442" cy="236281"/>
              </a:xfrm>
              <a:prstGeom prst="rect">
                <a:avLst/>
              </a:prstGeom>
            </p:spPr>
          </p:pic>
          <p:pic>
            <p:nvPicPr>
              <p:cNvPr id="130" name="R&amp;R Report">
                <a:extLst>
                  <a:ext uri="{FF2B5EF4-FFF2-40B4-BE49-F238E27FC236}">
                    <a16:creationId xmlns:a16="http://schemas.microsoft.com/office/drawing/2014/main" id="{3DCCF8A5-D61F-41D0-A9BA-3FA795DE36C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58"/>
                  </a:ext>
                </a:extLst>
              </a:blip>
              <a:srcRect b="19749"/>
              <a:stretch/>
            </p:blipFill>
            <p:spPr>
              <a:xfrm>
                <a:off x="8063504" y="1076811"/>
                <a:ext cx="237442" cy="236281"/>
              </a:xfrm>
              <a:prstGeom prst="rect">
                <a:avLst/>
              </a:prstGeom>
            </p:spPr>
          </p:pic>
          <p:pic>
            <p:nvPicPr>
              <p:cNvPr id="131" name="SCC Briefing" hidden="1">
                <a:extLst>
                  <a:ext uri="{FF2B5EF4-FFF2-40B4-BE49-F238E27FC236}">
                    <a16:creationId xmlns:a16="http://schemas.microsoft.com/office/drawing/2014/main" id="{F3AD8A12-44AC-4528-A3CF-F11F0A3C88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58"/>
                  </a:ext>
                </a:extLst>
              </a:blip>
              <a:srcRect b="19749"/>
              <a:stretch/>
            </p:blipFill>
            <p:spPr>
              <a:xfrm>
                <a:off x="8658052" y="1134417"/>
                <a:ext cx="237442" cy="236281"/>
              </a:xfrm>
              <a:prstGeom prst="rect">
                <a:avLst/>
              </a:prstGeom>
            </p:spPr>
          </p:pic>
          <p:pic>
            <p:nvPicPr>
              <p:cNvPr id="132" name="Rainfall Forecast" hidden="1">
                <a:extLst>
                  <a:ext uri="{FF2B5EF4-FFF2-40B4-BE49-F238E27FC236}">
                    <a16:creationId xmlns:a16="http://schemas.microsoft.com/office/drawing/2014/main" id="{3D558DC6-5DD5-4F20-95FF-5653C1142B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58"/>
                  </a:ext>
                </a:extLst>
              </a:blip>
              <a:srcRect b="19749"/>
              <a:stretch/>
            </p:blipFill>
            <p:spPr>
              <a:xfrm>
                <a:off x="6574271" y="2830328"/>
                <a:ext cx="237442" cy="236281"/>
              </a:xfrm>
              <a:prstGeom prst="rect">
                <a:avLst/>
              </a:prstGeom>
            </p:spPr>
          </p:pic>
          <p:pic>
            <p:nvPicPr>
              <p:cNvPr id="134" name="FDI Estimates" hidden="1">
                <a:extLst>
                  <a:ext uri="{FF2B5EF4-FFF2-40B4-BE49-F238E27FC236}">
                    <a16:creationId xmlns:a16="http://schemas.microsoft.com/office/drawing/2014/main" id="{8B5A4B67-C2AE-4EFB-B727-044DC48EBB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58"/>
                  </a:ext>
                </a:extLst>
              </a:blip>
              <a:srcRect b="19749"/>
              <a:stretch/>
            </p:blipFill>
            <p:spPr>
              <a:xfrm>
                <a:off x="8664866" y="2830328"/>
                <a:ext cx="237442" cy="236281"/>
              </a:xfrm>
              <a:prstGeom prst="rect">
                <a:avLst/>
              </a:prstGeom>
            </p:spPr>
          </p:pic>
        </p:grpSp>
      </p:grpSp>
      <p:pic>
        <p:nvPicPr>
          <p:cNvPr id="2" name="Sig Incident Update">
            <a:extLst>
              <a:ext uri="{FF2B5EF4-FFF2-40B4-BE49-F238E27FC236}">
                <a16:creationId xmlns:a16="http://schemas.microsoft.com/office/drawing/2014/main" id="{C87B03DB-820C-31B7-14FB-8B413C6B846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b="19749"/>
          <a:stretch/>
        </p:blipFill>
        <p:spPr>
          <a:xfrm>
            <a:off x="6841944" y="1057537"/>
            <a:ext cx="237442" cy="236281"/>
          </a:xfrm>
          <a:prstGeom prst="rect">
            <a:avLst/>
          </a:prstGeom>
        </p:spPr>
      </p:pic>
      <p:pic>
        <p:nvPicPr>
          <p:cNvPr id="4" name="Wind Change Forecast">
            <a:extLst>
              <a:ext uri="{FF2B5EF4-FFF2-40B4-BE49-F238E27FC236}">
                <a16:creationId xmlns:a16="http://schemas.microsoft.com/office/drawing/2014/main" id="{58C8FD4D-66D4-E084-9BAA-29D7F651CC6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b="19749"/>
          <a:stretch/>
        </p:blipFill>
        <p:spPr>
          <a:xfrm>
            <a:off x="6620408" y="2841986"/>
            <a:ext cx="237442" cy="236281"/>
          </a:xfrm>
          <a:prstGeom prst="rect">
            <a:avLst/>
          </a:prstGeom>
        </p:spPr>
      </p:pic>
      <p:pic>
        <p:nvPicPr>
          <p:cNvPr id="8" name="Wind Change Forecast">
            <a:extLst>
              <a:ext uri="{FF2B5EF4-FFF2-40B4-BE49-F238E27FC236}">
                <a16:creationId xmlns:a16="http://schemas.microsoft.com/office/drawing/2014/main" id="{6AAA4740-BC3E-E660-C8C8-CF954F95DD0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b="19749"/>
          <a:stretch/>
        </p:blipFill>
        <p:spPr>
          <a:xfrm>
            <a:off x="5220577" y="2838270"/>
            <a:ext cx="237442" cy="236281"/>
          </a:xfrm>
          <a:prstGeom prst="rect">
            <a:avLst/>
          </a:prstGeom>
        </p:spPr>
      </p:pic>
      <p:pic>
        <p:nvPicPr>
          <p:cNvPr id="12" name="Wind Change Forecast">
            <a:extLst>
              <a:ext uri="{FF2B5EF4-FFF2-40B4-BE49-F238E27FC236}">
                <a16:creationId xmlns:a16="http://schemas.microsoft.com/office/drawing/2014/main" id="{2DF19082-7334-33C2-08DB-AAC1E86F526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b="19749"/>
          <a:stretch/>
        </p:blipFill>
        <p:spPr>
          <a:xfrm>
            <a:off x="8666512" y="2840201"/>
            <a:ext cx="237442" cy="236281"/>
          </a:xfrm>
          <a:prstGeom prst="rect">
            <a:avLst/>
          </a:prstGeom>
        </p:spPr>
      </p:pic>
      <p:pic>
        <p:nvPicPr>
          <p:cNvPr id="15" name="Wind Change Forecast">
            <a:extLst>
              <a:ext uri="{FF2B5EF4-FFF2-40B4-BE49-F238E27FC236}">
                <a16:creationId xmlns:a16="http://schemas.microsoft.com/office/drawing/2014/main" id="{0974751F-437E-49CA-A577-3E423CDBC14E}"/>
              </a:ext>
            </a:extLst>
          </p:cNvPr>
          <p:cNvPicPr>
            <a:picLocks noChangeAspect="1"/>
          </p:cNvPicPr>
          <p:nvPr/>
        </p:nvPicPr>
        <p:blipFill>
          <a:blip r:embed="rId59"/>
          <a:srcRect t="244" b="244"/>
          <a:stretch/>
        </p:blipFill>
        <p:spPr>
          <a:xfrm>
            <a:off x="6259567" y="1066665"/>
            <a:ext cx="237442" cy="236281"/>
          </a:xfrm>
          <a:prstGeom prst="rect">
            <a:avLst/>
          </a:prstGeom>
        </p:spPr>
      </p:pic>
      <p:pic>
        <p:nvPicPr>
          <p:cNvPr id="9" name="Wind Change Forecast">
            <a:extLst>
              <a:ext uri="{FF2B5EF4-FFF2-40B4-BE49-F238E27FC236}">
                <a16:creationId xmlns:a16="http://schemas.microsoft.com/office/drawing/2014/main" id="{650A48A4-F721-9D3B-A858-BBBAE4B592F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b="19749"/>
          <a:stretch/>
        </p:blipFill>
        <p:spPr>
          <a:xfrm>
            <a:off x="4498689" y="2834955"/>
            <a:ext cx="237442" cy="236281"/>
          </a:xfrm>
          <a:prstGeom prst="rect">
            <a:avLst/>
          </a:prstGeom>
        </p:spPr>
      </p:pic>
      <p:pic>
        <p:nvPicPr>
          <p:cNvPr id="70" name="Wind Change Forecast">
            <a:extLst>
              <a:ext uri="{FF2B5EF4-FFF2-40B4-BE49-F238E27FC236}">
                <a16:creationId xmlns:a16="http://schemas.microsoft.com/office/drawing/2014/main" id="{3C75F0E4-4E76-E1F6-E746-19F5F088632E}"/>
              </a:ext>
            </a:extLst>
          </p:cNvPr>
          <p:cNvPicPr>
            <a:picLocks noChangeAspect="1"/>
          </p:cNvPicPr>
          <p:nvPr/>
        </p:nvPicPr>
        <p:blipFill>
          <a:blip r:embed="rId59"/>
          <a:srcRect t="244" b="244"/>
          <a:stretch/>
        </p:blipFill>
        <p:spPr>
          <a:xfrm>
            <a:off x="4474707" y="1077828"/>
            <a:ext cx="237442" cy="236281"/>
          </a:xfrm>
          <a:prstGeom prst="rect">
            <a:avLst/>
          </a:prstGeom>
        </p:spPr>
      </p:pic>
      <p:pic>
        <p:nvPicPr>
          <p:cNvPr id="72" name="Wind Change Forecast">
            <a:extLst>
              <a:ext uri="{FF2B5EF4-FFF2-40B4-BE49-F238E27FC236}">
                <a16:creationId xmlns:a16="http://schemas.microsoft.com/office/drawing/2014/main" id="{3C75F0E4-4E76-E1F6-E746-19F5F088632E}"/>
              </a:ext>
            </a:extLst>
          </p:cNvPr>
          <p:cNvPicPr>
            <a:picLocks noChangeAspect="1"/>
          </p:cNvPicPr>
          <p:nvPr/>
        </p:nvPicPr>
        <p:blipFill>
          <a:blip r:embed="rId59"/>
          <a:srcRect t="244" b="244"/>
          <a:stretch/>
        </p:blipFill>
        <p:spPr>
          <a:xfrm>
            <a:off x="5913409" y="2834955"/>
            <a:ext cx="237442" cy="236281"/>
          </a:xfrm>
          <a:prstGeom prst="rect">
            <a:avLst/>
          </a:prstGeom>
        </p:spPr>
      </p:pic>
      <p:pic>
        <p:nvPicPr>
          <p:cNvPr id="6" name="Sig Incident Update">
            <a:extLst>
              <a:ext uri="{FF2B5EF4-FFF2-40B4-BE49-F238E27FC236}">
                <a16:creationId xmlns:a16="http://schemas.microsoft.com/office/drawing/2014/main" id="{8AF44D51-6F40-59B5-6D49-86D95C6F076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b="19749"/>
          <a:stretch/>
        </p:blipFill>
        <p:spPr>
          <a:xfrm>
            <a:off x="5622676" y="1077828"/>
            <a:ext cx="237442" cy="236281"/>
          </a:xfrm>
          <a:prstGeom prst="rect">
            <a:avLst/>
          </a:prstGeom>
        </p:spPr>
      </p:pic>
      <p:pic>
        <p:nvPicPr>
          <p:cNvPr id="7" name="Sig Incident Update">
            <a:extLst>
              <a:ext uri="{FF2B5EF4-FFF2-40B4-BE49-F238E27FC236}">
                <a16:creationId xmlns:a16="http://schemas.microsoft.com/office/drawing/2014/main" id="{A5B7FCDC-EB0B-3AC0-BCE1-91D279C4474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b="19749"/>
          <a:stretch/>
        </p:blipFill>
        <p:spPr>
          <a:xfrm>
            <a:off x="8038387" y="2840202"/>
            <a:ext cx="237442" cy="236281"/>
          </a:xfrm>
          <a:prstGeom prst="rect">
            <a:avLst/>
          </a:prstGeom>
        </p:spPr>
      </p:pic>
      <p:pic>
        <p:nvPicPr>
          <p:cNvPr id="10" name="Wind Change Forecast">
            <a:extLst>
              <a:ext uri="{FF2B5EF4-FFF2-40B4-BE49-F238E27FC236}">
                <a16:creationId xmlns:a16="http://schemas.microsoft.com/office/drawing/2014/main" id="{E54B77F0-8577-060D-13ED-0FAF2323688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b="19749"/>
          <a:stretch/>
        </p:blipFill>
        <p:spPr>
          <a:xfrm>
            <a:off x="8678260" y="1057536"/>
            <a:ext cx="237442" cy="236281"/>
          </a:xfrm>
          <a:prstGeom prst="rect">
            <a:avLst/>
          </a:prstGeom>
        </p:spPr>
      </p:pic>
      <p:pic>
        <p:nvPicPr>
          <p:cNvPr id="11" name="Sig Incident Update">
            <a:extLst>
              <a:ext uri="{FF2B5EF4-FFF2-40B4-BE49-F238E27FC236}">
                <a16:creationId xmlns:a16="http://schemas.microsoft.com/office/drawing/2014/main" id="{BDBFF84E-6D3F-3C48-0FE8-9CAD78FD190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b="19749"/>
          <a:stretch/>
        </p:blipFill>
        <p:spPr>
          <a:xfrm>
            <a:off x="7275574" y="2841986"/>
            <a:ext cx="237442" cy="236281"/>
          </a:xfrm>
          <a:prstGeom prst="rect">
            <a:avLst/>
          </a:prstGeom>
        </p:spPr>
      </p:pic>
      <p:pic>
        <p:nvPicPr>
          <p:cNvPr id="14" name="Sig Incident Update">
            <a:extLst>
              <a:ext uri="{FF2B5EF4-FFF2-40B4-BE49-F238E27FC236}">
                <a16:creationId xmlns:a16="http://schemas.microsoft.com/office/drawing/2014/main" id="{F48ED286-AB1E-ACC7-AF37-A1984C2B148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b="19749"/>
          <a:stretch/>
        </p:blipFill>
        <p:spPr>
          <a:xfrm>
            <a:off x="5021314" y="1077828"/>
            <a:ext cx="237442" cy="2362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1807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S_OPTIONAL:av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FBBD478-1F78-4F3C-96F4-2D82EAF73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528974"/>
              </p:ext>
            </p:extLst>
          </p:nvPr>
        </p:nvGraphicFramePr>
        <p:xfrm>
          <a:off x="45048" y="756863"/>
          <a:ext cx="5561492" cy="34239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561492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16615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900" b="1" kern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Avian Influenza Outbreak</a:t>
                      </a:r>
                      <a:endParaRPr kumimoji="0" lang="en-AU" sz="8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1E1647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2100975"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AU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{{avian_situation}}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  <a:tr h="144004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02869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FBBD478-1F78-4F3C-96F4-2D82EAF73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666352"/>
              </p:ext>
            </p:extLst>
          </p:nvPr>
        </p:nvGraphicFramePr>
        <p:xfrm>
          <a:off x="5726680" y="756860"/>
          <a:ext cx="3372272" cy="424265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3372272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22019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900" b="1" kern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Statewide Situation Overview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401405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b="1" kern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FBBD478-1F78-4F3C-96F4-2D82EAF73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159287"/>
              </p:ext>
            </p:extLst>
          </p:nvPr>
        </p:nvGraphicFramePr>
        <p:xfrm>
          <a:off x="45048" y="4074104"/>
          <a:ext cx="5561492" cy="102135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561492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31266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900" b="1" kern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Other States</a:t>
                      </a:r>
                      <a:endParaRPr kumimoji="0" lang="en-AU" sz="9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srgbClr val="1E1647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708698">
                <a:tc>
                  <a:txBody>
                    <a:bodyPr/>
                    <a:lstStyle/>
                    <a:p>
                      <a:pPr marL="171450" marR="0" lvl="0" indent="-17145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{{avian_other_states}}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</a:tbl>
          </a:graphicData>
        </a:graphic>
      </p:graphicFrame>
      <p:pic>
        <p:nvPicPr>
          <p:cNvPr id="2" name="OPS_IMG:avian_map" descr="Operational Summary image slot avian_map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2502" y="1038520"/>
            <a:ext cx="2834804" cy="40089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2249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S_OPTIONAL:fl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E78677-66B4-A447-BF83-2C79B097D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577440"/>
              </p:ext>
            </p:extLst>
          </p:nvPr>
        </p:nvGraphicFramePr>
        <p:xfrm>
          <a:off x="0" y="751349"/>
          <a:ext cx="9091205" cy="433824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254500">
                  <a:extLst>
                    <a:ext uri="{9D8B030D-6E8A-4147-A177-3AD203B41FA5}">
                      <a16:colId xmlns:a16="http://schemas.microsoft.com/office/drawing/2014/main" val="1893234857"/>
                    </a:ext>
                  </a:extLst>
                </a:gridCol>
                <a:gridCol w="4836705">
                  <a:extLst>
                    <a:ext uri="{9D8B030D-6E8A-4147-A177-3AD203B41FA5}">
                      <a16:colId xmlns:a16="http://schemas.microsoft.com/office/drawing/2014/main" val="2446830360"/>
                    </a:ext>
                  </a:extLst>
                </a:gridCol>
              </a:tblGrid>
              <a:tr h="22062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/>
                          <a:ea typeface="+mn-ea"/>
                          <a:cs typeface="Arial"/>
                        </a:rPr>
                        <a:t> </a:t>
                      </a: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STATEWIDE FLOOD SNAPSHOT</a:t>
                      </a:r>
                      <a:r>
                        <a:rPr kumimoji="0" lang="en-AU" sz="900" b="1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3"/>
                        </a:rPr>
                        <a:t>1</a:t>
                      </a:r>
                      <a:endParaRPr lang="en-AU" sz="900" b="1" u="none" kern="1200" cap="all" baseline="0" noProof="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900" b="1" kern="0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STATE FLOOD OVERVIEW | </a:t>
                      </a:r>
                      <a:r>
                        <a:rPr lang="en-AU" sz="900" b="1" kern="0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{{flood_overview_date}}</a:t>
                      </a:r>
                      <a:endParaRPr lang="en-AU" sz="900" b="1" kern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734539"/>
                  </a:ext>
                </a:extLst>
              </a:tr>
              <a:tr h="2982631"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685247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Flood timeline – </a:t>
                      </a:r>
                      <a:r>
                        <a:rPr lang="en-AU" sz="900" b="1" u="none" kern="1200" cap="all" baseline="0" noProof="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{{flood_timeline_title}}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C5E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900" b="1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05668"/>
                  </a:ext>
                </a:extLst>
              </a:tr>
              <a:tr h="898414"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AU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1" u="none" kern="1200" cap="all" baseline="0" noProof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733132"/>
                  </a:ext>
                </a:extLst>
              </a:tr>
            </a:tbl>
          </a:graphicData>
        </a:graphic>
      </p:graphicFrame>
      <p:sp>
        <p:nvSpPr>
          <p:cNvPr id="9" name="Action Button: Custom 8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13218AE-A1D1-604F-92C7-0AE5526B3FD7}"/>
              </a:ext>
            </a:extLst>
          </p:cNvPr>
          <p:cNvSpPr/>
          <p:nvPr/>
        </p:nvSpPr>
        <p:spPr>
          <a:xfrm>
            <a:off x="0" y="0"/>
            <a:ext cx="670306" cy="68478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4321BE-86D1-4478-BACE-11F72CCE92D6}"/>
              </a:ext>
            </a:extLst>
          </p:cNvPr>
          <p:cNvSpPr/>
          <p:nvPr/>
        </p:nvSpPr>
        <p:spPr>
          <a:xfrm>
            <a:off x="59420" y="923925"/>
            <a:ext cx="4220850" cy="1992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E0C3890-C801-4BE5-BDB1-88113AF56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19209"/>
              </p:ext>
            </p:extLst>
          </p:nvPr>
        </p:nvGraphicFramePr>
        <p:xfrm>
          <a:off x="52795" y="972253"/>
          <a:ext cx="4169011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056">
                  <a:extLst>
                    <a:ext uri="{9D8B030D-6E8A-4147-A177-3AD203B41FA5}">
                      <a16:colId xmlns:a16="http://schemas.microsoft.com/office/drawing/2014/main" val="3784435984"/>
                    </a:ext>
                  </a:extLst>
                </a:gridCol>
                <a:gridCol w="725991">
                  <a:extLst>
                    <a:ext uri="{9D8B030D-6E8A-4147-A177-3AD203B41FA5}">
                      <a16:colId xmlns:a16="http://schemas.microsoft.com/office/drawing/2014/main" val="807479287"/>
                    </a:ext>
                  </a:extLst>
                </a:gridCol>
                <a:gridCol w="725991">
                  <a:extLst>
                    <a:ext uri="{9D8B030D-6E8A-4147-A177-3AD203B41FA5}">
                      <a16:colId xmlns:a16="http://schemas.microsoft.com/office/drawing/2014/main" val="4029121318"/>
                    </a:ext>
                  </a:extLst>
                </a:gridCol>
                <a:gridCol w="725991">
                  <a:extLst>
                    <a:ext uri="{9D8B030D-6E8A-4147-A177-3AD203B41FA5}">
                      <a16:colId xmlns:a16="http://schemas.microsoft.com/office/drawing/2014/main" val="653727769"/>
                    </a:ext>
                  </a:extLst>
                </a:gridCol>
                <a:gridCol w="725991">
                  <a:extLst>
                    <a:ext uri="{9D8B030D-6E8A-4147-A177-3AD203B41FA5}">
                      <a16:colId xmlns:a16="http://schemas.microsoft.com/office/drawing/2014/main" val="3472784004"/>
                    </a:ext>
                  </a:extLst>
                </a:gridCol>
                <a:gridCol w="725991">
                  <a:extLst>
                    <a:ext uri="{9D8B030D-6E8A-4147-A177-3AD203B41FA5}">
                      <a16:colId xmlns:a16="http://schemas.microsoft.com/office/drawing/2014/main" val="1321019754"/>
                    </a:ext>
                  </a:extLst>
                </a:gridCol>
              </a:tblGrid>
              <a:tr h="145322">
                <a:tc gridSpan="6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65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{{flood_table_title}}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1" kern="1200" noProof="0">
                        <a:solidFill>
                          <a:srgbClr val="00206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1" kern="1200" noProof="0">
                        <a:solidFill>
                          <a:srgbClr val="00206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700" b="1" kern="1200" noProof="0">
                        <a:solidFill>
                          <a:srgbClr val="00206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700" b="1" kern="1200">
                        <a:solidFill>
                          <a:srgbClr val="00206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195250"/>
                  </a:ext>
                </a:extLst>
              </a:tr>
              <a:tr h="220890">
                <a:tc>
                  <a:txBody>
                    <a:bodyPr/>
                    <a:lstStyle/>
                    <a:p>
                      <a:pPr algn="ctr"/>
                      <a:r>
                        <a:rPr lang="en-AU" sz="65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/>
                        </a:rPr>
                        <a:t>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65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/>
                        </a:rPr>
                        <a:t>{{flood_gauges.0.0}}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/>
                        </a:rPr>
                        <a:t>{{flood_gauges.0.1}}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/>
                        </a:rPr>
                        <a:t>{{flood_gauges.0.2}}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/>
                        </a:rPr>
                        <a:t>{{flood_gauges.0.3}}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600" b="1" kern="120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/>
                        </a:rPr>
                        <a:t>{{flood_gauges.0.4}}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230555"/>
                  </a:ext>
                </a:extLst>
              </a:tr>
              <a:tr h="151135">
                <a:tc>
                  <a:txBody>
                    <a:bodyPr/>
                    <a:lstStyle/>
                    <a:p>
                      <a:pPr algn="ctr"/>
                      <a:r>
                        <a:rPr lang="en-AU" sz="650" b="1" i="0" kern="1200" baseline="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Height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{{flood_gauges.1.0}}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{{flood_gauges.1.1}}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{{flood_gauges.1.2}}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{{flood_gauges.1.3}}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{{flood_gauges.1.4}}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84475"/>
                  </a:ext>
                </a:extLst>
              </a:tr>
              <a:tr h="151135">
                <a:tc>
                  <a:txBody>
                    <a:bodyPr/>
                    <a:lstStyle/>
                    <a:p>
                      <a:pPr algn="ctr"/>
                      <a:r>
                        <a:rPr lang="en-AU" sz="650" b="1" i="0" kern="1200" baseline="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Status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{{flood_gauges.2.0}}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{{flood_gauges.2.1}}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{{flood_gauges.2.2}}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{{flood_gauges.2.3}}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{{flood_gauges.2.4}}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92336"/>
                  </a:ext>
                </a:extLst>
              </a:tr>
              <a:tr h="151135">
                <a:tc>
                  <a:txBody>
                    <a:bodyPr/>
                    <a:lstStyle/>
                    <a:p>
                      <a:pPr algn="ctr"/>
                      <a:r>
                        <a:rPr lang="en-AU" sz="650" b="1" i="0" kern="1200" baseline="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Trend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{{flood_gauges.3.0}}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{{flood_gauges.3.1}}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{{flood_gauges.3.2}}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{{flood_gauges.3.3}}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1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{{flood_gauges.3.4}}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1443"/>
                  </a:ext>
                </a:extLst>
              </a:tr>
              <a:tr h="151135">
                <a:tc>
                  <a:txBody>
                    <a:bodyPr/>
                    <a:lstStyle/>
                    <a:p>
                      <a:pPr algn="ctr"/>
                      <a:r>
                        <a:rPr lang="en-AU" sz="650" b="1" i="0" kern="1200" baseline="0" noProof="0" dirty="0">
                          <a:solidFill>
                            <a:srgbClr val="00206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Outlook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650" b="0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{{flood_gauges.4.0}}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0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{{flood_gauges.4.1}}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0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{{flood_gauges.4.2}}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0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{{flood_gauges.4.3}}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650" b="0" i="0" kern="1200" baseline="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{{flood_gauges.4.4}}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350215"/>
                  </a:ext>
                </a:extLst>
              </a:tr>
            </a:tbl>
          </a:graphicData>
        </a:graphic>
      </p:graphicFrame>
      <p:pic>
        <p:nvPicPr>
          <p:cNvPr id="3" name="OPS_IMG:flood_timeline" descr="Operational Summary image slot flood_timel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9" y="4219378"/>
            <a:ext cx="6142597" cy="936778"/>
          </a:xfrm>
          <a:prstGeom prst="rect">
            <a:avLst/>
          </a:prstGeom>
        </p:spPr>
      </p:pic>
      <p:pic>
        <p:nvPicPr>
          <p:cNvPr id="6" name="OPS_IMG:flood_map" descr="Operational Summary image slot flood_map">
            <a:extLst>
              <a:ext uri="{FF2B5EF4-FFF2-40B4-BE49-F238E27FC236}">
                <a16:creationId xmlns:a16="http://schemas.microsoft.com/office/drawing/2014/main" id="{DDC0C2D6-4C1E-46D1-B721-F9283FF5C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9690" y="1049233"/>
            <a:ext cx="3859104" cy="2853854"/>
          </a:xfrm>
          <a:prstGeom prst="rect">
            <a:avLst/>
          </a:prstGeom>
        </p:spPr>
      </p:pic>
      <p:pic>
        <p:nvPicPr>
          <p:cNvPr id="11" name="OPS_IMG:flood_legend" descr="Operational Summary image slot flood_legend">
            <a:extLst>
              <a:ext uri="{FF2B5EF4-FFF2-40B4-BE49-F238E27FC236}">
                <a16:creationId xmlns:a16="http://schemas.microsoft.com/office/drawing/2014/main" id="{1C336F5B-7C3C-46FB-97A2-D2AD40F87A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5490" y="1484221"/>
            <a:ext cx="850838" cy="12790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67451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8Z6OUHsb"/>
  <p:tag name="ARTICULATE_PROJECT_OPEN" val="0"/>
  <p:tag name="ARTICULATE_SLIDE_COUNT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2026-06-15_SCC-State Operational Summary</Template>
  <TotalTime>40615</TotalTime>
  <Words>3571</Words>
  <Application>Microsoft Office PowerPoint</Application>
  <PresentationFormat>On-screen Show (16:9)</PresentationFormat>
  <Paragraphs>758</Paragraphs>
  <Slides>15</Slides>
  <Notes>12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Arial</vt:lpstr>
      <vt:lpstr>Calibri Light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Operational Summary</dc:title>
  <dc:creator/>
  <cp:lastModifiedBy/>
  <cp:revision>1</cp:revision>
  <cp:lastPrinted>2026-04-15T23:16:56Z</cp:lastPrinted>
  <dcterms:created xsi:type="dcterms:W3CDTF">2026-06-15T11:50:39Z</dcterms:created>
  <dcterms:modified xsi:type="dcterms:W3CDTF">2026-09-17T22:22:12Z</dcterms:modified>
  <dc:subject/>
  <cp:keywords/>
  <dc:description/>
  <cp:category/>
</cp:coreProperties>
</file>